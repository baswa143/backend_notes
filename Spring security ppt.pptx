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2D841-47AB-445F-8803-E320567B64C8}" v="1" dt="2026-06-21T08:27:34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i Tilwar" userId="b1f160475a8c28b0" providerId="LiveId" clId="{92F3E707-C43B-475C-B922-84A58497464C}"/>
    <pc:docChg chg="addSld delSld modSld">
      <pc:chgData name="Shruti Tilwar" userId="b1f160475a8c28b0" providerId="LiveId" clId="{92F3E707-C43B-475C-B922-84A58497464C}" dt="2026-06-21T08:27:46.220" v="2" actId="47"/>
      <pc:docMkLst>
        <pc:docMk/>
      </pc:docMkLst>
      <pc:sldChg chg="new del">
        <pc:chgData name="Shruti Tilwar" userId="b1f160475a8c28b0" providerId="LiveId" clId="{92F3E707-C43B-475C-B922-84A58497464C}" dt="2026-06-21T08:27:46.220" v="2" actId="47"/>
        <pc:sldMkLst>
          <pc:docMk/>
          <pc:sldMk cId="3189457039" sldId="256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654569922" sldId="257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368657651" sldId="258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498323660" sldId="259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527461834" sldId="260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836615009" sldId="261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426556168" sldId="262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951317684" sldId="263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052363179" sldId="264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325501030" sldId="265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3860185392" sldId="266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463936468" sldId="267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825742046" sldId="268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332020696" sldId="269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697114358" sldId="270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313233163" sldId="271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515104231" sldId="272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3231971066" sldId="273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514454700" sldId="274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640782936" sldId="275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264358920" sldId="276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453369873" sldId="277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3129805625" sldId="278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33505683" sldId="279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401356204" sldId="280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808686538" sldId="281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126054702" sldId="282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830770223" sldId="283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856485536" sldId="284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3796757127" sldId="285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2607765619" sldId="286"/>
        </pc:sldMkLst>
      </pc:sldChg>
      <pc:sldChg chg="add">
        <pc:chgData name="Shruti Tilwar" userId="b1f160475a8c28b0" providerId="LiveId" clId="{92F3E707-C43B-475C-B922-84A58497464C}" dt="2026-06-21T08:27:34.464" v="1"/>
        <pc:sldMkLst>
          <pc:docMk/>
          <pc:sldMk cId="1560962269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9D5A-6BA3-7B6D-D5D8-8BE689BBC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6FFDB-2ACA-3D82-E6A5-3DC1F856C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B405-0EA3-A979-B30A-99714A2F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F6FFD-D958-D010-FCB3-BF18F19E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F32C-D377-80C7-22AF-CD1D79CC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7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854A-CFCB-E055-8485-2D0F9527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417C-B37D-0DD8-D9E2-333AC9AD2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5138E-F920-0ABD-F6DF-03859A11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F7604-A23C-1F2A-02B0-CD8BB357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5E19C-BFF3-6AA6-9968-59D13B1F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57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C1FB-1947-4579-6B89-6BDD744B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B1B50-BD83-1A1B-A24A-13813703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CC907-D90B-5CB3-7EA5-F28CE011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4C51-1B3B-238C-E909-74BADACB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03A2-9DA4-6712-51B2-8F38334F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2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9A42-C954-4BD8-C305-0653D6A9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3644-E7D0-D4B7-D80A-4F42D0B1B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5F1E0-E85F-BF8D-C742-6B6CA7FDD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308C5-3215-2930-BF09-4DA00CF8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C9070-C7DC-D92E-CE68-A498C187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9AB0-F6E2-46D6-97F0-CF9A633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3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7BA2-728F-BA84-81DB-FC69DEA0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89CB4-E577-9B36-86FB-9FD7032F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C6888-F538-6A81-5869-7C94E7157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ACE3E-E9D0-CFF5-568C-7D76E46F5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6D257-543A-E549-7912-C012C66E1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BD2D4-DAA6-2495-3E59-62552CCA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6D87A-756E-12B7-7BE7-BC6760AB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DC5D5-A6B8-A499-266B-10ECEE05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8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5189-AE89-AD79-9D7D-002C8780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911B55-F6A7-AD51-2D0F-78B96859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E57E8-03D1-AB08-CA54-E30953CB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A1011-C6EB-67BA-472F-AAC1BED8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92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F5A9B-A900-A684-E798-9CBDB452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65063-7825-AE5A-A23D-47ADFB9C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5A91C-C4AE-7587-8431-43BEE45A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7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8E7C-866A-23E7-C5CE-F2408516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4B0D2-83A6-5B96-0E52-4FE3648C6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5C317-793D-57C7-9486-50C550D19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3EACC-D752-33CA-1DEF-C203F9E6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CD78F-E6FC-C077-2C41-8B7700C4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CC15-EDED-8FCF-3AAA-DFE2DAFB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51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6F58-CB4D-B163-5354-8C388CDE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48BD7-2EEE-8AB5-49B4-D6FD76F42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E3988-56C0-112D-5144-BA61B0450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A0ACA-F971-9BF6-473C-B8BEBF91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68D52-B990-9017-0BBF-5403471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70375-9D7B-EB33-B003-B5143D09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54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3CCE-ED09-849D-24EC-2CB9CCAD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16243-4A3C-8366-B730-F66A68981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E785C-FD61-6534-C0CB-D51FAC5F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D15F9-CB15-9919-A3AD-25BE34F5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B30EF-DCBA-01AD-B07E-92B59E96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11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58B32-9BCF-4018-62B7-5A1C1A5EC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E1724-1628-DE13-E252-558B1076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52A47-8326-4816-FA14-6103A3E6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0A2F8-9E66-2041-B43E-4F7829F0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DF1A4-7DD6-7CBF-EAE1-0BB2F8A1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4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53F79-F620-3722-048B-30FEF313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91CF0-A3A0-1E9F-5EF4-49FE4E44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0E5C2-2F3F-4597-D121-9534680B0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17785-3AC9-4AB6-8FC2-3CECCB9A94FC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DA962-7A92-0A5E-9284-3DFD2BF44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CDC5F-5455-69A7-B5E6-6572E8E5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CCCA4-2F2D-4F6D-9BCB-32A070BC9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55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does spring security works internally?">
            <a:extLst>
              <a:ext uri="{FF2B5EF4-FFF2-40B4-BE49-F238E27FC236}">
                <a16:creationId xmlns:a16="http://schemas.microsoft.com/office/drawing/2014/main" id="{00E22D2A-A30A-A0BE-C3FE-41A071F3B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54" y="776176"/>
            <a:ext cx="7732125" cy="424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6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0D8F-7456-CFB3-6391-C196F1A1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Spring Security?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62751-0AAB-A64E-1BFE-228B4F959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990"/>
            <a:ext cx="10515600" cy="569905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Spring Security</a:t>
            </a:r>
            <a:r>
              <a:rPr lang="en-IN" dirty="0"/>
              <a:t> is a powerful </a:t>
            </a:r>
            <a:r>
              <a:rPr lang="en-IN" b="1" dirty="0"/>
              <a:t>authentication</a:t>
            </a:r>
            <a:r>
              <a:rPr lang="en-IN" dirty="0"/>
              <a:t> and </a:t>
            </a:r>
            <a:r>
              <a:rPr lang="en-IN" b="1" dirty="0"/>
              <a:t>authorization</a:t>
            </a:r>
            <a:r>
              <a:rPr lang="en-IN" dirty="0"/>
              <a:t> framework for Spring applications.</a:t>
            </a:r>
          </a:p>
          <a:p>
            <a:r>
              <a:rPr lang="en-IN" dirty="0"/>
              <a:t>It provides:</a:t>
            </a:r>
          </a:p>
          <a:p>
            <a:r>
              <a:rPr lang="en-IN" dirty="0"/>
              <a:t>Authentication (Who are you?) </a:t>
            </a:r>
          </a:p>
          <a:p>
            <a:r>
              <a:rPr lang="en-IN" dirty="0"/>
              <a:t>Authorization (What are you allowed to do?) </a:t>
            </a:r>
          </a:p>
          <a:p>
            <a:r>
              <a:rPr lang="en-IN" dirty="0"/>
              <a:t>Protection against common attacks: </a:t>
            </a:r>
          </a:p>
          <a:p>
            <a:pPr lvl="1"/>
            <a:r>
              <a:rPr lang="en-IN" dirty="0"/>
              <a:t>CSRF (Cross-Site Request Forgery)</a:t>
            </a:r>
          </a:p>
          <a:p>
            <a:pPr lvl="1"/>
            <a:r>
              <a:rPr lang="en-IN" dirty="0"/>
              <a:t>Session Fixation </a:t>
            </a:r>
          </a:p>
          <a:p>
            <a:pPr lvl="1"/>
            <a:r>
              <a:rPr lang="en-IN" dirty="0"/>
              <a:t>Clickjacking </a:t>
            </a:r>
          </a:p>
          <a:p>
            <a:pPr lvl="1"/>
            <a:r>
              <a:rPr lang="en-IN" dirty="0"/>
              <a:t>XSS (partially through headers) </a:t>
            </a:r>
          </a:p>
          <a:p>
            <a:r>
              <a:rPr lang="en-IN" dirty="0"/>
              <a:t>Password encryption </a:t>
            </a:r>
          </a:p>
          <a:p>
            <a:r>
              <a:rPr lang="en-IN" dirty="0"/>
              <a:t>JWT/OAuth2 support </a:t>
            </a:r>
          </a:p>
          <a:p>
            <a:r>
              <a:rPr lang="en-IN" dirty="0"/>
              <a:t>Remember-Me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36865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52A6-FF5A-230D-DF49-7463950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7377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Security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A554A-4014-D112-4085-E9AE88CAC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77" y="1138238"/>
            <a:ext cx="1009004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2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6158-44CD-8847-E284-1AB0A463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5480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Security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A67A-3DE0-CBA7-82A5-30EFF01B3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562"/>
            <a:ext cx="10515600" cy="589043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Spring Security is built entirely on </a:t>
            </a:r>
            <a:r>
              <a:rPr lang="en-IN" b="1" dirty="0"/>
              <a:t>Servlet Filters</a:t>
            </a:r>
            <a:r>
              <a:rPr lang="en-IN" dirty="0"/>
              <a:t>. When an HTTP request is sent to your application, it passes through a chain of filters before reaching your controller. </a:t>
            </a:r>
          </a:p>
          <a:p>
            <a:r>
              <a:rPr lang="en-IN" b="1" dirty="0"/>
              <a:t>Core Architectural Components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err="1"/>
              <a:t>SecurityFilterChain</a:t>
            </a:r>
            <a:r>
              <a:rPr lang="en-IN" b="1" dirty="0"/>
              <a:t>:</a:t>
            </a:r>
            <a:r>
              <a:rPr lang="en-IN" dirty="0"/>
              <a:t> A collection of filtered Beans that intercept the incoming request. If a request passes all filters, it hits the Controller.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err="1"/>
              <a:t>SecurityContextHolder</a:t>
            </a:r>
            <a:r>
              <a:rPr lang="en-IN" b="1" dirty="0"/>
              <a:t>:</a:t>
            </a:r>
            <a:r>
              <a:rPr lang="en-IN" dirty="0"/>
              <a:t> The most fundamental object. It stores details of the current security context of the application, including the currently authenticated principal (user).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Authentication:</a:t>
            </a:r>
            <a:r>
              <a:rPr lang="en-IN" dirty="0"/>
              <a:t> Represents the user's token/credentials. Once authenticated, this object is placed inside the </a:t>
            </a:r>
            <a:r>
              <a:rPr lang="en-IN" dirty="0" err="1"/>
              <a:t>SecurityContextHolder</a:t>
            </a:r>
            <a:r>
              <a:rPr lang="en-IN" dirty="0"/>
              <a:t>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b="1" dirty="0"/>
              <a:t>Principal:</a:t>
            </a:r>
            <a:r>
              <a:rPr lang="en-IN" dirty="0"/>
              <a:t> Identifies the user (usually a </a:t>
            </a:r>
            <a:r>
              <a:rPr lang="en-IN" dirty="0" err="1"/>
              <a:t>UserDetails</a:t>
            </a:r>
            <a:r>
              <a:rPr lang="en-IN" dirty="0"/>
              <a:t> instance).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b="1" dirty="0"/>
              <a:t>Credentials:</a:t>
            </a:r>
            <a:r>
              <a:rPr lang="en-IN" dirty="0"/>
              <a:t> Often a password (cleared after authentication).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b="1" dirty="0"/>
              <a:t>Authorities:</a:t>
            </a:r>
            <a:r>
              <a:rPr lang="en-IN" dirty="0"/>
              <a:t> The roles/permissions granted to the user (</a:t>
            </a:r>
            <a:r>
              <a:rPr lang="en-IN" dirty="0" err="1"/>
              <a:t>GrantedAuthority</a:t>
            </a:r>
            <a:r>
              <a:rPr lang="en-IN" dirty="0"/>
              <a:t>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err="1"/>
              <a:t>AuthenticationManager</a:t>
            </a:r>
            <a:r>
              <a:rPr lang="en-IN" b="1" dirty="0"/>
              <a:t>:</a:t>
            </a:r>
            <a:r>
              <a:rPr lang="en-IN" dirty="0"/>
              <a:t> The API that defines how Spring Security's filters perform authentication. The default implementation is </a:t>
            </a:r>
            <a:r>
              <a:rPr lang="en-IN" dirty="0" err="1"/>
              <a:t>ProviderManager</a:t>
            </a:r>
            <a:r>
              <a:rPr lang="en-IN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err="1"/>
              <a:t>AuthenticationProvider</a:t>
            </a:r>
            <a:r>
              <a:rPr lang="en-IN" b="1" dirty="0"/>
              <a:t>:</a:t>
            </a:r>
            <a:r>
              <a:rPr lang="en-IN" dirty="0"/>
              <a:t> Performs specific types of authentication (e.g., </a:t>
            </a:r>
            <a:r>
              <a:rPr lang="en-IN" dirty="0" err="1"/>
              <a:t>DaoAuthenticationProvider</a:t>
            </a:r>
            <a:r>
              <a:rPr lang="en-IN" dirty="0"/>
              <a:t> for database lookups, </a:t>
            </a:r>
            <a:r>
              <a:rPr lang="en-IN" dirty="0" err="1"/>
              <a:t>JwtAuthenticationProvider</a:t>
            </a:r>
            <a:r>
              <a:rPr lang="en-IN" dirty="0"/>
              <a:t>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 err="1"/>
              <a:t>UserDetailsService</a:t>
            </a:r>
            <a:r>
              <a:rPr lang="en-IN" b="1" dirty="0"/>
              <a:t>:</a:t>
            </a:r>
            <a:r>
              <a:rPr lang="en-IN" dirty="0"/>
              <a:t> A core interface used to load user-specific data from a database or in-memory config.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46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DD43-0BE1-BB35-F314-200F494E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 fontScale="90000"/>
          </a:bodyPr>
          <a:lstStyle/>
          <a:p>
            <a:r>
              <a:rPr lang="en-IN" dirty="0"/>
              <a:t>Basic Configuration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56745-52F1-C11A-DD32-FB4DF82E5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5666"/>
            <a:ext cx="10515600" cy="5241297"/>
          </a:xfrm>
        </p:spPr>
        <p:txBody>
          <a:bodyPr/>
          <a:lstStyle/>
          <a:p>
            <a:pPr marL="457200" lvl="1" indent="0">
              <a:buNone/>
            </a:pPr>
            <a:r>
              <a:rPr lang="en-IN" b="1" dirty="0"/>
              <a:t>Add Dependency in pom.xml</a:t>
            </a:r>
          </a:p>
          <a:p>
            <a:pPr lvl="1"/>
            <a:r>
              <a:rPr lang="en-IN" dirty="0"/>
              <a:t>&lt;dependency&gt;</a:t>
            </a:r>
          </a:p>
          <a:p>
            <a:pPr lvl="1"/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lvl="1"/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&gt;spring-boot-starter-security&lt;/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lvl="1"/>
            <a:r>
              <a:rPr lang="en-IN" dirty="0"/>
              <a:t>&lt;/dependency&gt;</a:t>
            </a:r>
          </a:p>
          <a:p>
            <a:r>
              <a:rPr lang="en-IN" b="1" dirty="0"/>
              <a:t>Modern Java Configuration</a:t>
            </a:r>
          </a:p>
          <a:p>
            <a:pPr lvl="1"/>
            <a:r>
              <a:rPr lang="en-IN" dirty="0"/>
              <a:t>Since modern versions of Spring Security deprecated </a:t>
            </a:r>
            <a:r>
              <a:rPr lang="en-IN" dirty="0" err="1"/>
              <a:t>WebSecurityConfigurerAdapter</a:t>
            </a:r>
            <a:r>
              <a:rPr lang="en-IN" dirty="0"/>
              <a:t>, you declare a </a:t>
            </a:r>
            <a:r>
              <a:rPr lang="en-IN" dirty="0" err="1"/>
              <a:t>SecurityFilterChain</a:t>
            </a:r>
            <a:r>
              <a:rPr lang="en-IN" dirty="0"/>
              <a:t> bean instead: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61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0688-6A62-B56B-7CCF-1DE83EB9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Modern Java Configuration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869A5-D635-98B3-9AFA-2FF2118E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177"/>
            <a:ext cx="10515600" cy="6081823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org.springframework.context.annotation.Bean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org.springframework.context.annotation.Configuration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import org.springframework.security.config.annotation.web.builders.HttpSecurity;</a:t>
            </a:r>
          </a:p>
          <a:p>
            <a:pPr marL="457200" lvl="1" indent="0">
              <a:buNone/>
            </a:pPr>
            <a:r>
              <a:rPr lang="en-IN" dirty="0"/>
              <a:t>import org.springframework.security.config.annotation.web.configuration.EnableWebSecurity;</a:t>
            </a:r>
          </a:p>
          <a:p>
            <a:pPr marL="457200" lvl="1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org.springframework.security.web.SecurityFilterChain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@</a:t>
            </a:r>
            <a:r>
              <a:rPr lang="en-IN" b="1" dirty="0"/>
              <a:t>Configuration</a:t>
            </a:r>
          </a:p>
          <a:p>
            <a:pPr marL="457200" lvl="1" indent="0">
              <a:buNone/>
            </a:pPr>
            <a:r>
              <a:rPr lang="en-IN" dirty="0"/>
              <a:t>@</a:t>
            </a:r>
            <a:r>
              <a:rPr lang="en-IN" b="1" dirty="0"/>
              <a:t>EnableWebSecurity</a:t>
            </a:r>
            <a:r>
              <a:rPr lang="en-IN" dirty="0"/>
              <a:t> // Enables Spring Security's web security support</a:t>
            </a:r>
          </a:p>
          <a:p>
            <a:pPr marL="457200" lvl="1" indent="0">
              <a:buNone/>
            </a:pPr>
            <a:r>
              <a:rPr lang="en-IN" dirty="0"/>
              <a:t>public class </a:t>
            </a:r>
            <a:r>
              <a:rPr lang="en-IN" dirty="0" err="1"/>
              <a:t>SecurityConfig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    @Bean</a:t>
            </a:r>
          </a:p>
          <a:p>
            <a:pPr marL="457200" lvl="1" indent="0">
              <a:buNone/>
            </a:pPr>
            <a:r>
              <a:rPr lang="en-IN" dirty="0"/>
              <a:t>    public </a:t>
            </a: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(HttpSecurity http) throws Exception {</a:t>
            </a:r>
          </a:p>
          <a:p>
            <a:pPr marL="457200" lvl="1" indent="0">
              <a:buNone/>
            </a:pPr>
            <a:r>
              <a:rPr lang="en-IN" dirty="0"/>
              <a:t>        http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 // Disable CSRF for stateless REST APIs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/public/**").</a:t>
            </a:r>
            <a:r>
              <a:rPr lang="en-IN" dirty="0" err="1"/>
              <a:t>permitAll</a:t>
            </a:r>
            <a:r>
              <a:rPr lang="en-IN" dirty="0"/>
              <a:t>()               // Public endpoints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/admin/**").</a:t>
            </a:r>
            <a:r>
              <a:rPr lang="en-IN" dirty="0" err="1"/>
              <a:t>hasRole</a:t>
            </a:r>
            <a:r>
              <a:rPr lang="en-IN" dirty="0"/>
              <a:t>("ADMIN")             // Admin only</a:t>
            </a:r>
          </a:p>
          <a:p>
            <a:pPr marL="457200" lvl="1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anyRequest</a:t>
            </a:r>
            <a:r>
              <a:rPr lang="en-IN" dirty="0"/>
              <a:t>().authenticated()              // All other requests need authentication</a:t>
            </a:r>
          </a:p>
          <a:p>
            <a:pPr marL="457200" lvl="1" indent="0">
              <a:buNone/>
            </a:pPr>
            <a:r>
              <a:rPr lang="en-IN" dirty="0"/>
              <a:t>            )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formLogin</a:t>
            </a:r>
            <a:r>
              <a:rPr lang="en-IN" dirty="0"/>
              <a:t>(form -&gt; </a:t>
            </a:r>
            <a:r>
              <a:rPr lang="en-IN" dirty="0" err="1"/>
              <a:t>form.permitAll</a:t>
            </a:r>
            <a:r>
              <a:rPr lang="en-IN" dirty="0"/>
              <a:t>())          // Enable default Form Login</a:t>
            </a:r>
          </a:p>
          <a:p>
            <a:pPr marL="457200" lvl="1" indent="0">
              <a:buNone/>
            </a:pPr>
            <a:r>
              <a:rPr lang="en-IN" dirty="0"/>
              <a:t>            .</a:t>
            </a:r>
            <a:r>
              <a:rPr lang="en-IN" dirty="0" err="1"/>
              <a:t>httpBasic</a:t>
            </a:r>
            <a:r>
              <a:rPr lang="en-IN" dirty="0"/>
              <a:t>(basic -&gt; {});      // Enable HTTP Basic (for API clients)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        return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    }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655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0454-A5D9-52FA-A4FB-C5741D23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vs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EF09D-E7A8-D95F-93CB-B94287483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726"/>
            <a:ext cx="10515600" cy="5156237"/>
          </a:xfrm>
        </p:spPr>
        <p:txBody>
          <a:bodyPr/>
          <a:lstStyle/>
          <a:p>
            <a:r>
              <a:rPr lang="en-IN" b="1" dirty="0"/>
              <a:t>Authentication</a:t>
            </a:r>
          </a:p>
          <a:p>
            <a:pPr lvl="1"/>
            <a:r>
              <a:rPr lang="en-IN" dirty="0"/>
              <a:t>Verifies the identity of a user.</a:t>
            </a:r>
          </a:p>
          <a:p>
            <a:pPr lvl="1"/>
            <a:r>
              <a:rPr lang="en-IN" dirty="0"/>
              <a:t>Username: </a:t>
            </a:r>
            <a:r>
              <a:rPr lang="en-IN" dirty="0" err="1"/>
              <a:t>chetan</a:t>
            </a:r>
            <a:endParaRPr lang="en-IN" dirty="0"/>
          </a:p>
          <a:p>
            <a:pPr lvl="1"/>
            <a:r>
              <a:rPr lang="en-IN" dirty="0"/>
              <a:t>Password: 12345</a:t>
            </a:r>
          </a:p>
          <a:p>
            <a:pPr lvl="1"/>
            <a:r>
              <a:rPr lang="en-IN" dirty="0"/>
              <a:t>Spring verifies credentials.</a:t>
            </a:r>
          </a:p>
          <a:p>
            <a:r>
              <a:rPr lang="en-IN" b="1" dirty="0"/>
              <a:t>Authorization</a:t>
            </a:r>
          </a:p>
          <a:p>
            <a:r>
              <a:rPr lang="en-IN" dirty="0"/>
              <a:t>Determines what authenticated users can access.</a:t>
            </a:r>
          </a:p>
          <a:p>
            <a:pPr lvl="1"/>
            <a:r>
              <a:rPr lang="en-IN" dirty="0"/>
              <a:t>ADMIN -&gt; /admin/**</a:t>
            </a:r>
          </a:p>
          <a:p>
            <a:pPr lvl="1"/>
            <a:r>
              <a:rPr lang="en-IN" dirty="0"/>
              <a:t>USER  -&gt; /profile/**</a:t>
            </a:r>
          </a:p>
        </p:txBody>
      </p:sp>
    </p:spTree>
    <p:extLst>
      <p:ext uri="{BB962C8B-B14F-4D97-AF65-F5344CB8AC3E}">
        <p14:creationId xmlns:p14="http://schemas.microsoft.com/office/powerpoint/2010/main" val="195131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3BE4-77DB-A6F3-56C8-BC29BBBC7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80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Security Filter Chain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A64F-EF2E-2EB1-2C5E-100FEA6D2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930"/>
            <a:ext cx="10515600" cy="5535945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/>
              <a:t>In a Servlet-based application, Spring Security’s web infrastructure is built entirely on standard </a:t>
            </a:r>
            <a:r>
              <a:rPr lang="en-IN" sz="2000" b="1" dirty="0"/>
              <a:t>Servlet Filters</a:t>
            </a:r>
            <a:r>
              <a:rPr lang="en-IN" sz="2000" dirty="0"/>
              <a:t>. When an HTTP request is sent to your application, the container (like Tomcat) creates a </a:t>
            </a:r>
            <a:r>
              <a:rPr lang="en-IN" sz="2000" b="1" dirty="0" err="1"/>
              <a:t>FilterChain</a:t>
            </a:r>
            <a:r>
              <a:rPr lang="en-IN" sz="2000" dirty="0"/>
              <a:t> containing the filters and the servlet that should process the request based on the request URI.</a:t>
            </a:r>
          </a:p>
          <a:p>
            <a:r>
              <a:rPr lang="en-IN" sz="2000" dirty="0"/>
              <a:t>Spring Security inserts itself into this standard chain through a special adapter called the </a:t>
            </a:r>
            <a:r>
              <a:rPr lang="en-IN" sz="2000" b="1" dirty="0" err="1"/>
              <a:t>DelegatingFilterProxy</a:t>
            </a:r>
            <a:r>
              <a:rPr lang="en-IN" sz="2000" dirty="0"/>
              <a:t>.</a:t>
            </a:r>
          </a:p>
          <a:p>
            <a:r>
              <a:rPr lang="en-IN" b="1" dirty="0"/>
              <a:t>How It Works Under the Hood</a:t>
            </a:r>
          </a:p>
          <a:p>
            <a:pPr lvl="1"/>
            <a:r>
              <a:rPr lang="en-IN" b="1" dirty="0" err="1"/>
              <a:t>DelegatingFilterProxy</a:t>
            </a:r>
            <a:r>
              <a:rPr lang="en-IN" dirty="0"/>
              <a:t>: This is a standard Servlet Filter registered with the servlet container. However, it doesn't do any security work itself. Instead, it looks for a Spring Bean named </a:t>
            </a:r>
            <a:r>
              <a:rPr lang="en-IN" dirty="0" err="1"/>
              <a:t>springSecurityFilterChain</a:t>
            </a:r>
            <a:r>
              <a:rPr lang="en-IN" dirty="0"/>
              <a:t> and delegates all its work to it. This bridges the lifecycle of the Servlet container with Spring's </a:t>
            </a:r>
            <a:r>
              <a:rPr lang="en-IN" dirty="0" err="1"/>
              <a:t>ApplicationContext</a:t>
            </a:r>
            <a:r>
              <a:rPr lang="en-IN" dirty="0"/>
              <a:t>.</a:t>
            </a:r>
          </a:p>
          <a:p>
            <a:pPr lvl="1"/>
            <a:r>
              <a:rPr lang="en-IN" b="1" dirty="0" err="1"/>
              <a:t>FilterChainProxy</a:t>
            </a:r>
            <a:r>
              <a:rPr lang="en-IN" dirty="0"/>
              <a:t>: This is the actual Spring Bean (</a:t>
            </a:r>
            <a:r>
              <a:rPr lang="en-IN" dirty="0" err="1"/>
              <a:t>springSecurityFilterChain</a:t>
            </a:r>
            <a:r>
              <a:rPr lang="en-IN" dirty="0"/>
              <a:t>) that manages one or more </a:t>
            </a:r>
            <a:r>
              <a:rPr lang="en-IN" b="1" dirty="0" err="1"/>
              <a:t>SecurityFilterChains</a:t>
            </a:r>
            <a:r>
              <a:rPr lang="en-IN" dirty="0"/>
              <a:t>. It decides which security chain should handle the current request based on the URL path.</a:t>
            </a:r>
          </a:p>
          <a:p>
            <a:pPr lvl="1"/>
            <a:r>
              <a:rPr lang="en-IN" b="1" dirty="0" err="1"/>
              <a:t>SecurityFilterChain</a:t>
            </a:r>
            <a:r>
              <a:rPr lang="en-IN" dirty="0"/>
              <a:t>: This is a collection of ordered Spring Security Filters. If a request matches the URL pattern of a specific chain, it must pass through every filter in that chain sequentially before it can ever reach your @RestController or @Controller.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36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E1D4-F5D5-A28F-58EB-289F6B09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805"/>
          </a:xfrm>
        </p:spPr>
        <p:txBody>
          <a:bodyPr>
            <a:normAutofit fontScale="90000"/>
          </a:bodyPr>
          <a:lstStyle/>
          <a:p>
            <a:r>
              <a:rPr lang="en-IN" dirty="0"/>
              <a:t>Core Filters in the Chain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C2088B-158F-3357-8239-D82D2D37FB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40473"/>
          <a:ext cx="10515600" cy="4653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183686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12620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Filter Name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Purpose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290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DisableEncodeUrlFilter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Prevents session IDs from being leaked in URLs.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48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CsrfFilter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Protects against Cross-Site Request Forgery by validating CSRF tokens (for stateful applications).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75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LogoutFilter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Monitors requests to /logout to clear the security context and invalidate the session.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528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UsernamePasswordAuthenticationFilter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Inspects /login POST requests to extract username/password and authenticate the user.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4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DefaultLoginPageGeneratingFilter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Automatically renders the default HTML login page if you don't provide a custom one.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759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BasicAuthenticationFilter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Checks for standard Authorization: Basic &lt;credentials&gt; headers on incoming requests.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58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SecurityContextHolderFilter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Manages the 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SecurityContext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across requests, loading it from the session (or token).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778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50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87B6-39A3-C00C-34C8-4AA2B49A6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908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8993-14E0-F2EC-30C9-5F1930549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034"/>
            <a:ext cx="10515600" cy="5752213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/>
              <a:t>At its absolute simplest, the difference comes down to two distinct questions:</a:t>
            </a:r>
          </a:p>
          <a:p>
            <a:pPr lvl="1"/>
            <a:r>
              <a:rPr lang="en-IN" sz="2000" b="1" dirty="0"/>
              <a:t>Authentication (</a:t>
            </a:r>
            <a:r>
              <a:rPr lang="en-IN" sz="2000" b="1" dirty="0" err="1"/>
              <a:t>AuthN</a:t>
            </a:r>
            <a:r>
              <a:rPr lang="en-IN" sz="2000" b="1" dirty="0"/>
              <a:t>):</a:t>
            </a:r>
            <a:r>
              <a:rPr lang="en-IN" sz="2000" dirty="0"/>
              <a:t> Who are you?</a:t>
            </a:r>
          </a:p>
          <a:p>
            <a:pPr lvl="1"/>
            <a:r>
              <a:rPr lang="en-IN" sz="2000" b="1" dirty="0"/>
              <a:t>Authorization (</a:t>
            </a:r>
            <a:r>
              <a:rPr lang="en-IN" sz="2000" b="1" dirty="0" err="1"/>
              <a:t>AuthZ</a:t>
            </a:r>
            <a:r>
              <a:rPr lang="en-IN" sz="2000" b="1" dirty="0"/>
              <a:t>):</a:t>
            </a:r>
            <a:r>
              <a:rPr lang="en-IN" sz="2000" dirty="0"/>
              <a:t> What are you allowed to do?</a:t>
            </a:r>
          </a:p>
          <a:p>
            <a:r>
              <a:rPr lang="en-IN" sz="2000" dirty="0"/>
              <a:t>While they sound similar and often work hand-in-hand within a security framework like Spring Security, they serve </a:t>
            </a:r>
            <a:r>
              <a:rPr lang="en-IN" sz="2000" b="1" dirty="0"/>
              <a:t>entirely different purposes</a:t>
            </a:r>
            <a:r>
              <a:rPr lang="en-IN" sz="2000" dirty="0"/>
              <a:t> in the lifecycle of a request.</a:t>
            </a:r>
          </a:p>
          <a:p>
            <a:r>
              <a:rPr lang="en-IN" b="1" dirty="0"/>
              <a:t>Authentication (Who are you?)</a:t>
            </a:r>
          </a:p>
          <a:p>
            <a:pPr lvl="1"/>
            <a:r>
              <a:rPr lang="en-IN" dirty="0"/>
              <a:t>Authentication is the process of </a:t>
            </a:r>
            <a:r>
              <a:rPr lang="en-IN" b="1" dirty="0"/>
              <a:t>verifying the identity</a:t>
            </a:r>
            <a:r>
              <a:rPr lang="en-IN" dirty="0"/>
              <a:t> of a user, device, or system. It is the very first step in any security workflow.</a:t>
            </a:r>
          </a:p>
          <a:p>
            <a:pPr lvl="1"/>
            <a:r>
              <a:rPr lang="en-IN" b="1" dirty="0"/>
              <a:t>Common Examples</a:t>
            </a:r>
          </a:p>
          <a:p>
            <a:pPr lvl="2"/>
            <a:r>
              <a:rPr lang="en-IN" dirty="0"/>
              <a:t>Entering your username and password on a login page.</a:t>
            </a:r>
          </a:p>
          <a:p>
            <a:pPr lvl="2"/>
            <a:r>
              <a:rPr lang="en-IN" dirty="0"/>
              <a:t>Scanning your fingerprint or using </a:t>
            </a:r>
            <a:r>
              <a:rPr lang="en-IN" dirty="0" err="1"/>
              <a:t>FaceID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Receiving a One-Time Password (OTP) via SMS or email.</a:t>
            </a:r>
          </a:p>
          <a:p>
            <a:pPr lvl="2"/>
            <a:r>
              <a:rPr lang="en-IN" dirty="0"/>
              <a:t>Presenting a digital certificate or an OAuth access token.</a:t>
            </a:r>
          </a:p>
          <a:p>
            <a:pPr lvl="1"/>
            <a:r>
              <a:rPr lang="en-IN" b="1" dirty="0"/>
              <a:t>How it looks in Spring Security</a:t>
            </a:r>
          </a:p>
          <a:p>
            <a:pPr lvl="2"/>
            <a:r>
              <a:rPr lang="en-IN" dirty="0"/>
              <a:t>When a user provides credentials, Spring Security validates them (usually via an </a:t>
            </a:r>
            <a:r>
              <a:rPr lang="en-IN" dirty="0" err="1"/>
              <a:t>AuthenticationManager</a:t>
            </a:r>
            <a:r>
              <a:rPr lang="en-IN" dirty="0"/>
              <a:t> checking against a database). If successful, it creates an Authentication object and stores it in the </a:t>
            </a:r>
            <a:r>
              <a:rPr lang="en-IN" dirty="0" err="1"/>
              <a:t>SecurityContextHolder</a:t>
            </a:r>
            <a:r>
              <a:rPr lang="en-IN" dirty="0"/>
              <a:t>. From this point forward, the system knows </a:t>
            </a:r>
            <a:r>
              <a:rPr lang="en-IN" i="1" dirty="0"/>
              <a:t>exactly</a:t>
            </a:r>
            <a:r>
              <a:rPr lang="en-IN" dirty="0"/>
              <a:t> who is making the requests.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18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B533-6A87-CC82-3A5F-FFB4EE7A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8642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526F-EF0E-86E9-CCDF-3435B94D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68"/>
            <a:ext cx="10515600" cy="5273195"/>
          </a:xfrm>
        </p:spPr>
        <p:txBody>
          <a:bodyPr>
            <a:normAutofit/>
          </a:bodyPr>
          <a:lstStyle/>
          <a:p>
            <a:r>
              <a:rPr lang="en-IN" b="1" dirty="0"/>
              <a:t>Authorization (What can you do?)</a:t>
            </a:r>
          </a:p>
          <a:p>
            <a:pPr lvl="1"/>
            <a:r>
              <a:rPr lang="en-IN" dirty="0"/>
              <a:t>Authorization happens </a:t>
            </a:r>
            <a:r>
              <a:rPr lang="en-IN" b="1" dirty="0"/>
              <a:t>only after</a:t>
            </a:r>
            <a:r>
              <a:rPr lang="en-IN" dirty="0"/>
              <a:t> successful authentication. Once the system knows who you are, authorization determines your access levels, policies, permissions, or roles.</a:t>
            </a:r>
          </a:p>
          <a:p>
            <a:pPr lvl="1"/>
            <a:r>
              <a:rPr lang="en-IN" b="1" dirty="0"/>
              <a:t>Common Examples</a:t>
            </a:r>
          </a:p>
          <a:p>
            <a:pPr lvl="2"/>
            <a:r>
              <a:rPr lang="en-IN" dirty="0"/>
              <a:t>An </a:t>
            </a:r>
            <a:r>
              <a:rPr lang="en-IN" b="1" dirty="0"/>
              <a:t>Admin</a:t>
            </a:r>
            <a:r>
              <a:rPr lang="en-IN" dirty="0"/>
              <a:t> user can delete records, while a </a:t>
            </a:r>
            <a:r>
              <a:rPr lang="en-IN" b="1" dirty="0"/>
              <a:t>Standard</a:t>
            </a:r>
            <a:r>
              <a:rPr lang="en-IN" dirty="0"/>
              <a:t> user can only view them.</a:t>
            </a:r>
          </a:p>
          <a:p>
            <a:pPr lvl="2"/>
            <a:r>
              <a:rPr lang="en-IN" dirty="0"/>
              <a:t>A premium subscriber can stream 4K videos, while a free-tier user is limited to 720p.</a:t>
            </a:r>
          </a:p>
          <a:p>
            <a:pPr lvl="2"/>
            <a:r>
              <a:rPr lang="en-IN" dirty="0"/>
              <a:t>A user can edit </a:t>
            </a:r>
            <a:r>
              <a:rPr lang="en-IN" i="1" dirty="0"/>
              <a:t>only</a:t>
            </a:r>
            <a:r>
              <a:rPr lang="en-IN" dirty="0"/>
              <a:t> their own profile page, not another user's profile.</a:t>
            </a:r>
          </a:p>
          <a:p>
            <a:pPr lvl="1"/>
            <a:r>
              <a:rPr lang="en-IN" b="1" dirty="0"/>
              <a:t>How it looks in Spring Security</a:t>
            </a:r>
          </a:p>
          <a:p>
            <a:pPr lvl="2"/>
            <a:r>
              <a:rPr lang="en-IN" dirty="0"/>
              <a:t>Spring Security handles this using </a:t>
            </a:r>
            <a:r>
              <a:rPr lang="en-IN" b="1" dirty="0"/>
              <a:t>Granted Authorities</a:t>
            </a:r>
            <a:r>
              <a:rPr lang="en-IN" dirty="0"/>
              <a:t> (typically Roles or Permissions). For example, a user might have the authority ROLE_ADMIN or PERM_DELETE_USER. The </a:t>
            </a:r>
            <a:r>
              <a:rPr lang="en-IN" dirty="0" err="1"/>
              <a:t>AuthorizationFilter</a:t>
            </a:r>
            <a:r>
              <a:rPr lang="en-IN" dirty="0"/>
              <a:t> (or method annotations like @PreAuthorize) inspects these authorities before letting the request reach your business logic.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936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0F35-5FBC-E30E-CDDB-0BE69D58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D0EA-01AF-D070-5703-C2E57D012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256"/>
            <a:ext cx="10515600" cy="5113707"/>
          </a:xfrm>
        </p:spPr>
        <p:txBody>
          <a:bodyPr/>
          <a:lstStyle/>
          <a:p>
            <a:r>
              <a:rPr lang="en-IN" dirty="0"/>
              <a:t>Side-by-Side Comparison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BCC531-CC0D-BD0A-F263-9071B55D4F1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11842"/>
          <a:ext cx="10515600" cy="410301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827115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26725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8606320"/>
                    </a:ext>
                  </a:extLst>
                </a:gridCol>
              </a:tblGrid>
              <a:tr h="425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Feature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Authentication (</a:t>
                      </a:r>
                      <a:r>
                        <a:rPr lang="en-IN" b="1" dirty="0" err="1">
                          <a:effectLst/>
                          <a:latin typeface="Google Sans Text"/>
                        </a:rPr>
                        <a:t>AuthN</a:t>
                      </a:r>
                      <a:r>
                        <a:rPr lang="en-IN" b="1" dirty="0">
                          <a:effectLst/>
                          <a:latin typeface="Google Sans Text"/>
                        </a:rPr>
                        <a:t>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Authorization (</a:t>
                      </a:r>
                      <a:r>
                        <a:rPr lang="en-IN" b="1" dirty="0" err="1">
                          <a:effectLst/>
                          <a:latin typeface="Google Sans Text"/>
                        </a:rPr>
                        <a:t>AuthZ</a:t>
                      </a:r>
                      <a:r>
                        <a:rPr lang="en-IN" b="1" dirty="0">
                          <a:effectLst/>
                          <a:latin typeface="Google Sans Text"/>
                        </a:rPr>
                        <a:t>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669310"/>
                  </a:ext>
                </a:extLst>
              </a:tr>
              <a:tr h="425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Core Question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"Who are you?"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"What are you allowed to do?"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8669"/>
                  </a:ext>
                </a:extLst>
              </a:tr>
              <a:tr h="735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Sequence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Happens </a:t>
                      </a:r>
                      <a:r>
                        <a:rPr lang="en-IN" b="1" dirty="0">
                          <a:effectLst/>
                          <a:latin typeface="Google Sans Text"/>
                        </a:rPr>
                        <a:t>first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Happens </a:t>
                      </a:r>
                      <a:r>
                        <a:rPr lang="en-IN" b="1" dirty="0">
                          <a:effectLst/>
                          <a:latin typeface="Google Sans Text"/>
                        </a:rPr>
                        <a:t>second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(depends on 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AuthN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08050"/>
                  </a:ext>
                </a:extLst>
              </a:tr>
              <a:tr h="735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Data used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Passwords, biometrics, OTPs, tokens.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Roles, permissions, access control lists (ACLs).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010402"/>
                  </a:ext>
                </a:extLst>
              </a:tr>
              <a:tr h="735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Spring Security Tool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effectLst/>
                          <a:latin typeface="Google Sans Text"/>
                        </a:rPr>
                        <a:t>AuthenticationProvider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UserDetailsService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effectLst/>
                          <a:latin typeface="Google Sans Text"/>
                        </a:rPr>
                        <a:t>AuthorizationFilter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, @PreAuthorize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89798"/>
                  </a:ext>
                </a:extLst>
              </a:tr>
              <a:tr h="104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Failure Result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HTTP 401 Unauthorized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(The server doesn't know who you are).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HTTP 403 Forbidden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(The server knows who you are, but you don't have permission).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706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742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C719-AD4B-EBFC-CDF1-17725583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8642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BD2C8-AD07-3272-F9D9-FC7A7C3D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What is the </a:t>
            </a:r>
            <a:r>
              <a:rPr lang="en-IN" b="1" dirty="0" err="1"/>
              <a:t>AuthenticationManager</a:t>
            </a:r>
            <a:r>
              <a:rPr lang="en-IN" b="1" dirty="0"/>
              <a:t>?</a:t>
            </a:r>
          </a:p>
          <a:p>
            <a:r>
              <a:rPr lang="en-IN" dirty="0"/>
              <a:t>In Spring Security, the </a:t>
            </a:r>
            <a:r>
              <a:rPr lang="en-IN" b="1" dirty="0" err="1"/>
              <a:t>AuthenticationManager</a:t>
            </a:r>
            <a:r>
              <a:rPr lang="en-IN" dirty="0"/>
              <a:t> is the main strategy interface responsible for processing an authentication request. It is the heart of the authentication architecture.</a:t>
            </a:r>
          </a:p>
          <a:p>
            <a:r>
              <a:rPr lang="en-IN" dirty="0"/>
              <a:t>It defines a single, simple method:</a:t>
            </a:r>
          </a:p>
          <a:p>
            <a:pPr marL="457200" lvl="1" indent="0">
              <a:buNone/>
            </a:pPr>
            <a:r>
              <a:rPr lang="en-US" dirty="0"/>
              <a:t>public interface </a:t>
            </a:r>
            <a:r>
              <a:rPr lang="en-US" dirty="0" err="1"/>
              <a:t>AuthenticationManager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    Authentication authenticate(Authentication authentication) </a:t>
            </a:r>
          </a:p>
          <a:p>
            <a:pPr marL="457200" lvl="1" indent="0">
              <a:buNone/>
            </a:pPr>
            <a:r>
              <a:rPr lang="en-US" dirty="0"/>
              <a:t>            throws </a:t>
            </a:r>
            <a:r>
              <a:rPr lang="en-US" dirty="0" err="1"/>
              <a:t>AuthenticationException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lvl="1"/>
            <a:r>
              <a:rPr lang="en-IN" b="1" dirty="0"/>
              <a:t>The Input and Output</a:t>
            </a:r>
          </a:p>
          <a:p>
            <a:pPr lvl="2"/>
            <a:r>
              <a:rPr lang="en-IN" b="1" dirty="0"/>
              <a:t>Input:</a:t>
            </a:r>
            <a:r>
              <a:rPr lang="en-IN" dirty="0"/>
              <a:t> An unauthenticated Authentication object containing the credentials the user provided (e.g., username and password).</a:t>
            </a:r>
          </a:p>
          <a:p>
            <a:pPr lvl="2"/>
            <a:r>
              <a:rPr lang="en-IN" b="1" dirty="0"/>
              <a:t>Output:</a:t>
            </a:r>
            <a:r>
              <a:rPr lang="en-IN" dirty="0"/>
              <a:t> A fully populated, authenticated Authentication object (including the user's principal details and granted authorities/roles), or an exception if authentication fails.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2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037B-E17B-2E13-78D6-1ED92089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CC6BE-73FA-3883-3532-CD526188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6298"/>
            <a:ext cx="10515600" cy="567778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The Architecture: </a:t>
            </a:r>
            <a:r>
              <a:rPr lang="en-IN" b="1" dirty="0" err="1"/>
              <a:t>ProviderManager</a:t>
            </a:r>
            <a:endParaRPr lang="en-IN" b="1" dirty="0"/>
          </a:p>
          <a:p>
            <a:pPr lvl="1"/>
            <a:r>
              <a:rPr lang="en-IN" dirty="0"/>
              <a:t>The default and most common implementation of </a:t>
            </a:r>
            <a:r>
              <a:rPr lang="en-IN" dirty="0" err="1"/>
              <a:t>AuthenticationManager</a:t>
            </a:r>
            <a:r>
              <a:rPr lang="en-IN" dirty="0"/>
              <a:t> is </a:t>
            </a:r>
            <a:r>
              <a:rPr lang="en-IN" b="1" dirty="0" err="1"/>
              <a:t>ProviderManager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Instead of doing the authentication logic itself, </a:t>
            </a:r>
            <a:r>
              <a:rPr lang="en-IN" dirty="0" err="1"/>
              <a:t>ProviderManager</a:t>
            </a:r>
            <a:r>
              <a:rPr lang="en-IN" dirty="0"/>
              <a:t> maintains a list of one or more </a:t>
            </a:r>
            <a:r>
              <a:rPr lang="en-IN" b="1" dirty="0" err="1"/>
              <a:t>AuthenticationProvider</a:t>
            </a:r>
            <a:r>
              <a:rPr lang="en-IN" dirty="0"/>
              <a:t> instances. It iterates through them until one successfully authenticates the request.</a:t>
            </a:r>
          </a:p>
          <a:p>
            <a:r>
              <a:rPr lang="en-IN" b="1" dirty="0"/>
              <a:t>Why this architecture? (Decoupling)</a:t>
            </a:r>
          </a:p>
          <a:p>
            <a:pPr lvl="1"/>
            <a:r>
              <a:rPr lang="en-IN" dirty="0"/>
              <a:t>Different parts of your application might require different ways to authenticate. By delegating to a list of providers, a single </a:t>
            </a:r>
            <a:r>
              <a:rPr lang="en-IN" dirty="0" err="1"/>
              <a:t>AuthenticationManager</a:t>
            </a:r>
            <a:r>
              <a:rPr lang="en-IN" dirty="0"/>
              <a:t> can support multiple login methods simultaneously:</a:t>
            </a:r>
          </a:p>
          <a:p>
            <a:pPr lvl="1"/>
            <a:r>
              <a:rPr lang="en-IN" b="1" dirty="0" err="1"/>
              <a:t>DaoAuthenticationProvider</a:t>
            </a:r>
            <a:r>
              <a:rPr lang="en-IN" dirty="0"/>
              <a:t>: Looks up users in a database using a </a:t>
            </a:r>
            <a:r>
              <a:rPr lang="en-IN" dirty="0" err="1"/>
              <a:t>UserDetailsService</a:t>
            </a:r>
            <a:r>
              <a:rPr lang="en-IN" dirty="0"/>
              <a:t> and validates passwords via a </a:t>
            </a:r>
            <a:r>
              <a:rPr lang="en-IN" dirty="0" err="1"/>
              <a:t>PasswordEncoder</a:t>
            </a:r>
            <a:r>
              <a:rPr lang="en-IN" dirty="0"/>
              <a:t>.</a:t>
            </a:r>
          </a:p>
          <a:p>
            <a:pPr lvl="1"/>
            <a:r>
              <a:rPr lang="en-IN" b="1" dirty="0" err="1"/>
              <a:t>JwtAuthenticationProvider</a:t>
            </a:r>
            <a:r>
              <a:rPr lang="en-IN" dirty="0"/>
              <a:t>: Validates stateless JSON Web Tokens.</a:t>
            </a:r>
          </a:p>
          <a:p>
            <a:pPr lvl="1"/>
            <a:r>
              <a:rPr lang="en-IN" b="1" dirty="0"/>
              <a:t>OAuth2LoginAuthenticationProvider</a:t>
            </a:r>
            <a:r>
              <a:rPr lang="en-IN" dirty="0"/>
              <a:t>: Handles social logins like Google or GitHub.</a:t>
            </a:r>
          </a:p>
          <a:p>
            <a:pPr lvl="1"/>
            <a:r>
              <a:rPr lang="en-IN" b="1" dirty="0" err="1"/>
              <a:t>LdapAuthenticationProvider</a:t>
            </a:r>
            <a:r>
              <a:rPr lang="en-IN" dirty="0"/>
              <a:t>: Validates credentials against an enterprise LDAP directory.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114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42EB-9FF3-5CE2-EA1B-D4114B26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847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33E51-B8D5-CEC6-B59E-4E6A5849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358"/>
            <a:ext cx="10515600" cy="514560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How the Flow Works Step-by-Step</a:t>
            </a:r>
          </a:p>
          <a:p>
            <a:r>
              <a:rPr lang="en-IN" dirty="0"/>
              <a:t>Let's look at what happens when a user submits a standard login request:</a:t>
            </a:r>
          </a:p>
          <a:p>
            <a:r>
              <a:rPr lang="en-IN" b="1" dirty="0"/>
              <a:t>The Filter Intercepts:</a:t>
            </a:r>
            <a:r>
              <a:rPr lang="en-IN" dirty="0"/>
              <a:t> The user submits a form. </a:t>
            </a:r>
            <a:r>
              <a:rPr lang="en-IN" dirty="0" err="1"/>
              <a:t>UsernamePasswordAuthenticationFilter</a:t>
            </a:r>
            <a:r>
              <a:rPr lang="en-IN" dirty="0"/>
              <a:t> extracts the username and password, packages them into an unauthenticated </a:t>
            </a:r>
            <a:r>
              <a:rPr lang="en-IN" dirty="0" err="1"/>
              <a:t>UsernamePasswordAuthenticationToken</a:t>
            </a:r>
            <a:r>
              <a:rPr lang="en-IN" dirty="0"/>
              <a:t> object, and passes it to the </a:t>
            </a:r>
            <a:r>
              <a:rPr lang="en-IN" dirty="0" err="1"/>
              <a:t>AuthenticationManager</a:t>
            </a:r>
            <a:r>
              <a:rPr lang="en-IN" dirty="0"/>
              <a:t>.</a:t>
            </a:r>
          </a:p>
          <a:p>
            <a:r>
              <a:rPr lang="en-IN" b="1" dirty="0"/>
              <a:t>Provider Evaluation:</a:t>
            </a:r>
            <a:r>
              <a:rPr lang="en-IN" dirty="0"/>
              <a:t> The </a:t>
            </a:r>
            <a:r>
              <a:rPr lang="en-IN" dirty="0" err="1"/>
              <a:t>ProviderManager</a:t>
            </a:r>
            <a:r>
              <a:rPr lang="en-IN" dirty="0"/>
              <a:t> (the manager implementation) loops through its configured AuthenticationProviders to find one that supports this specific token type.</a:t>
            </a:r>
          </a:p>
          <a:p>
            <a:r>
              <a:rPr lang="en-IN" b="1" dirty="0"/>
              <a:t>The Database Lookup:</a:t>
            </a:r>
            <a:r>
              <a:rPr lang="en-IN" dirty="0"/>
              <a:t> It hits the </a:t>
            </a:r>
            <a:r>
              <a:rPr lang="en-IN" dirty="0" err="1"/>
              <a:t>DaoAuthenticationProvider</a:t>
            </a:r>
            <a:r>
              <a:rPr lang="en-IN" dirty="0"/>
              <a:t>. This provider calls your custom </a:t>
            </a:r>
            <a:r>
              <a:rPr lang="en-IN" dirty="0" err="1"/>
              <a:t>UserDetailsService</a:t>
            </a:r>
            <a:r>
              <a:rPr lang="en-IN" dirty="0"/>
              <a:t> to fetch the user details from the database.</a:t>
            </a:r>
          </a:p>
          <a:p>
            <a:r>
              <a:rPr lang="en-IN" b="1" dirty="0"/>
              <a:t>Password Verification:</a:t>
            </a:r>
            <a:r>
              <a:rPr lang="en-IN" dirty="0"/>
              <a:t> The provider uses the configured </a:t>
            </a:r>
            <a:r>
              <a:rPr lang="en-IN" dirty="0" err="1"/>
              <a:t>PasswordEncoder</a:t>
            </a:r>
            <a:r>
              <a:rPr lang="en-IN" dirty="0"/>
              <a:t> (e.g., </a:t>
            </a:r>
            <a:r>
              <a:rPr lang="en-IN" dirty="0" err="1"/>
              <a:t>BCrypt</a:t>
            </a:r>
            <a:r>
              <a:rPr lang="en-IN" dirty="0"/>
              <a:t>) to check if the raw password matches the hashed password in the database.</a:t>
            </a:r>
          </a:p>
          <a:p>
            <a:r>
              <a:rPr lang="en-IN" b="1" dirty="0"/>
              <a:t>Success &amp; Storage:</a:t>
            </a:r>
            <a:r>
              <a:rPr lang="en-IN" dirty="0"/>
              <a:t> * If they match, a new </a:t>
            </a:r>
            <a:r>
              <a:rPr lang="en-IN" b="1" dirty="0"/>
              <a:t>authenticated</a:t>
            </a:r>
            <a:r>
              <a:rPr lang="en-IN" dirty="0"/>
              <a:t> token is returned, filled with the user's details and roles (</a:t>
            </a:r>
            <a:r>
              <a:rPr lang="en-IN" dirty="0" err="1"/>
              <a:t>GrantedAuthority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The filter takes this authenticated object and stores it in the </a:t>
            </a:r>
            <a:r>
              <a:rPr lang="en-IN" dirty="0" err="1"/>
              <a:t>SecurityContextHolder</a:t>
            </a:r>
            <a:r>
              <a:rPr lang="en-IN" dirty="0"/>
              <a:t>. The user is now officially logged in!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233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E054-CCD9-4B7B-E436-13561B47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0011D-C80B-3E52-9109-5AE098B9A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726"/>
            <a:ext cx="10515600" cy="591170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How to Configure the </a:t>
            </a:r>
            <a:r>
              <a:rPr lang="en-IN" b="1" dirty="0" err="1"/>
              <a:t>AuthenticationManager</a:t>
            </a:r>
            <a:endParaRPr lang="en-IN" b="1" dirty="0"/>
          </a:p>
          <a:p>
            <a:pPr lvl="1"/>
            <a:r>
              <a:rPr lang="en-IN" dirty="0"/>
              <a:t>In modern Spring Security, you don't typically manually configure the </a:t>
            </a:r>
            <a:r>
              <a:rPr lang="en-IN" dirty="0" err="1"/>
              <a:t>ProviderManager</a:t>
            </a:r>
            <a:r>
              <a:rPr lang="en-IN" dirty="0"/>
              <a:t> unless you have highly custom needs. Spring Boot automatically builds one for you based on the beans you expose (like </a:t>
            </a:r>
            <a:r>
              <a:rPr lang="en-IN" dirty="0" err="1"/>
              <a:t>UserDetailsService</a:t>
            </a:r>
            <a:r>
              <a:rPr lang="en-IN" dirty="0"/>
              <a:t> and </a:t>
            </a:r>
            <a:r>
              <a:rPr lang="en-IN" dirty="0" err="1"/>
              <a:t>PasswordEncoder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However, if you need to expose the </a:t>
            </a:r>
            <a:r>
              <a:rPr lang="en-IN" dirty="0" err="1"/>
              <a:t>AuthenticationManager</a:t>
            </a:r>
            <a:r>
              <a:rPr lang="en-IN" dirty="0"/>
              <a:t> as a bean—for example, to perform manual programmatic login inside a REST controller—you do it like this:</a:t>
            </a:r>
          </a:p>
          <a:p>
            <a:pPr marL="914400" lvl="2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org.springframework.context.annotation.Bean</a:t>
            </a:r>
            <a:r>
              <a:rPr lang="en-IN" dirty="0"/>
              <a:t>;</a:t>
            </a:r>
          </a:p>
          <a:p>
            <a:pPr marL="914400" lvl="2" indent="0">
              <a:buNone/>
            </a:pPr>
            <a:r>
              <a:rPr lang="en-IN" dirty="0"/>
              <a:t>import </a:t>
            </a:r>
            <a:r>
              <a:rPr lang="en-IN" dirty="0" err="1"/>
              <a:t>org.springframework.context.annotation.Configuration</a:t>
            </a:r>
            <a:r>
              <a:rPr lang="en-IN" dirty="0"/>
              <a:t>;</a:t>
            </a:r>
          </a:p>
          <a:p>
            <a:pPr marL="914400" lvl="2" indent="0">
              <a:buNone/>
            </a:pPr>
            <a:r>
              <a:rPr lang="en-IN" dirty="0"/>
              <a:t>import org.springframework.security.authentication.AuthenticationManager;</a:t>
            </a:r>
          </a:p>
          <a:p>
            <a:pPr marL="914400" lvl="2" indent="0">
              <a:buNone/>
            </a:pPr>
            <a:r>
              <a:rPr lang="en-IN" dirty="0"/>
              <a:t>import org.springframework.security.config.annotation.authentication.configuration.AuthenticationConfiguration;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@Configuration</a:t>
            </a:r>
          </a:p>
          <a:p>
            <a:pPr marL="914400" lvl="2" indent="0">
              <a:buNone/>
            </a:pPr>
            <a:r>
              <a:rPr lang="en-IN" dirty="0"/>
              <a:t>public class </a:t>
            </a:r>
            <a:r>
              <a:rPr lang="en-IN" dirty="0" err="1"/>
              <a:t>SecurityConfig</a:t>
            </a:r>
            <a:r>
              <a:rPr lang="en-IN" dirty="0"/>
              <a:t> {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// Injecting Spring's global configuration helper</a:t>
            </a:r>
          </a:p>
          <a:p>
            <a:pPr marL="914400" lvl="2" indent="0">
              <a:buNone/>
            </a:pPr>
            <a:r>
              <a:rPr lang="en-IN" dirty="0"/>
              <a:t>    @Bean</a:t>
            </a:r>
          </a:p>
          <a:p>
            <a:pPr marL="914400" lvl="2" indent="0">
              <a:buNone/>
            </a:pPr>
            <a:r>
              <a:rPr lang="en-IN" dirty="0"/>
              <a:t>    public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(</a:t>
            </a:r>
            <a:r>
              <a:rPr lang="en-IN" dirty="0" err="1"/>
              <a:t>AuthenticationConfiguration</a:t>
            </a:r>
            <a:r>
              <a:rPr lang="en-IN" dirty="0"/>
              <a:t> configuration) throws Exception {</a:t>
            </a:r>
          </a:p>
          <a:p>
            <a:pPr marL="914400" lvl="2" indent="0">
              <a:buNone/>
            </a:pPr>
            <a:r>
              <a:rPr lang="en-IN" dirty="0"/>
              <a:t>        return </a:t>
            </a:r>
            <a:r>
              <a:rPr lang="en-IN" dirty="0" err="1"/>
              <a:t>configuration.getAuthenticationManager</a:t>
            </a:r>
            <a:r>
              <a:rPr lang="en-IN" dirty="0"/>
              <a:t>();</a:t>
            </a:r>
          </a:p>
          <a:p>
            <a:pPr marL="914400" lvl="2" indent="0">
              <a:buNone/>
            </a:pPr>
            <a:r>
              <a:rPr lang="en-IN" dirty="0"/>
              <a:t>    }</a:t>
            </a:r>
          </a:p>
          <a:p>
            <a:pPr marL="914400" lvl="2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5104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6164-B7D2-4DE0-E03B-E1A0B55F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5706-733C-4E57-4F3D-7ECF3E1EA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238"/>
            <a:ext cx="10515600" cy="6145618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Programmatic Login in a Controller</a:t>
            </a:r>
          </a:p>
          <a:p>
            <a:pPr marL="914400" lvl="2" indent="0">
              <a:buNone/>
            </a:pPr>
            <a:r>
              <a:rPr lang="en-IN" dirty="0"/>
              <a:t>@RestController</a:t>
            </a:r>
          </a:p>
          <a:p>
            <a:pPr marL="914400" lvl="2" indent="0">
              <a:buNone/>
            </a:pPr>
            <a:r>
              <a:rPr lang="en-IN" dirty="0"/>
              <a:t>@RequestMapping("/api/auth")</a:t>
            </a:r>
          </a:p>
          <a:p>
            <a:pPr marL="914400" lvl="2" indent="0">
              <a:buNone/>
            </a:pPr>
            <a:r>
              <a:rPr lang="en-IN" dirty="0"/>
              <a:t>public class </a:t>
            </a:r>
            <a:r>
              <a:rPr lang="en-IN" dirty="0" err="1"/>
              <a:t>AuthController</a:t>
            </a:r>
            <a:r>
              <a:rPr lang="en-IN" dirty="0"/>
              <a:t> {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@Autowired</a:t>
            </a:r>
          </a:p>
          <a:p>
            <a:pPr marL="914400" lvl="2" indent="0">
              <a:buNone/>
            </a:pPr>
            <a:r>
              <a:rPr lang="en-IN" dirty="0"/>
              <a:t>    private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;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@PostMapping("/login")</a:t>
            </a:r>
          </a:p>
          <a:p>
            <a:pPr marL="914400" lvl="2" indent="0">
              <a:buNone/>
            </a:pPr>
            <a:r>
              <a:rPr lang="en-IN" dirty="0"/>
              <a:t>    public </a:t>
            </a:r>
            <a:r>
              <a:rPr lang="en-IN" dirty="0" err="1"/>
              <a:t>ResponseEntity</a:t>
            </a:r>
            <a:r>
              <a:rPr lang="en-IN" dirty="0"/>
              <a:t>&lt;String&gt; login(@RequestBody </a:t>
            </a:r>
            <a:r>
              <a:rPr lang="en-IN" dirty="0" err="1"/>
              <a:t>LoginRequest</a:t>
            </a:r>
            <a:r>
              <a:rPr lang="en-IN" dirty="0"/>
              <a:t> </a:t>
            </a:r>
            <a:r>
              <a:rPr lang="en-IN" dirty="0" err="1"/>
              <a:t>loginRequest</a:t>
            </a:r>
            <a:r>
              <a:rPr lang="en-IN" dirty="0"/>
              <a:t>) {</a:t>
            </a:r>
          </a:p>
          <a:p>
            <a:pPr marL="914400" lvl="2" indent="0">
              <a:buNone/>
            </a:pPr>
            <a:r>
              <a:rPr lang="en-IN" dirty="0"/>
              <a:t>        // 1. Create an unauthenticated token</a:t>
            </a:r>
          </a:p>
          <a:p>
            <a:pPr marL="914400" lvl="2" indent="0">
              <a:buNone/>
            </a:pPr>
            <a:r>
              <a:rPr lang="en-IN" dirty="0"/>
              <a:t>        </a:t>
            </a:r>
            <a:r>
              <a:rPr lang="en-IN" dirty="0" err="1"/>
              <a:t>UsernamePasswordAuthenticationToken</a:t>
            </a:r>
            <a:r>
              <a:rPr lang="en-IN" dirty="0"/>
              <a:t> </a:t>
            </a:r>
            <a:r>
              <a:rPr lang="en-IN" dirty="0" err="1"/>
              <a:t>authToken</a:t>
            </a:r>
            <a:r>
              <a:rPr lang="en-IN" dirty="0"/>
              <a:t> = </a:t>
            </a:r>
          </a:p>
          <a:p>
            <a:pPr marL="914400" lvl="2" indent="0">
              <a:buNone/>
            </a:pPr>
            <a:r>
              <a:rPr lang="en-IN" dirty="0"/>
              <a:t>            new </a:t>
            </a:r>
            <a:r>
              <a:rPr lang="en-IN" dirty="0" err="1"/>
              <a:t>UsernamePasswordAuthenticationToken</a:t>
            </a:r>
            <a:r>
              <a:rPr lang="en-IN" dirty="0"/>
              <a:t>(</a:t>
            </a:r>
            <a:r>
              <a:rPr lang="en-IN" dirty="0" err="1"/>
              <a:t>loginRequest.getUsername</a:t>
            </a:r>
            <a:r>
              <a:rPr lang="en-IN" dirty="0"/>
              <a:t>(), </a:t>
            </a:r>
            <a:r>
              <a:rPr lang="en-IN" dirty="0" err="1"/>
              <a:t>loginRequest.getPassword</a:t>
            </a:r>
            <a:r>
              <a:rPr lang="en-IN" dirty="0"/>
              <a:t>());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    // 2. Delegate to </a:t>
            </a:r>
            <a:r>
              <a:rPr lang="en-IN" dirty="0" err="1"/>
              <a:t>AuthenticationManager</a:t>
            </a:r>
            <a:r>
              <a:rPr lang="en-IN" dirty="0"/>
              <a:t> to verify credentials</a:t>
            </a:r>
          </a:p>
          <a:p>
            <a:pPr marL="914400" lvl="2" indent="0">
              <a:buNone/>
            </a:pPr>
            <a:r>
              <a:rPr lang="en-IN" dirty="0"/>
              <a:t>        // This will automatically trigger </a:t>
            </a:r>
            <a:r>
              <a:rPr lang="en-IN" dirty="0" err="1"/>
              <a:t>UserDetailsService</a:t>
            </a:r>
            <a:r>
              <a:rPr lang="en-IN" dirty="0"/>
              <a:t> &amp; </a:t>
            </a:r>
            <a:r>
              <a:rPr lang="en-IN" dirty="0" err="1"/>
              <a:t>PasswordEncoder</a:t>
            </a:r>
            <a:r>
              <a:rPr lang="en-IN" dirty="0"/>
              <a:t> verification</a:t>
            </a:r>
          </a:p>
          <a:p>
            <a:pPr marL="914400" lvl="2" indent="0">
              <a:buNone/>
            </a:pPr>
            <a:r>
              <a:rPr lang="en-IN" dirty="0"/>
              <a:t>        Authentication </a:t>
            </a:r>
            <a:r>
              <a:rPr lang="en-IN" dirty="0" err="1"/>
              <a:t>authentication</a:t>
            </a:r>
            <a:r>
              <a:rPr lang="en-IN" dirty="0"/>
              <a:t> = </a:t>
            </a:r>
            <a:r>
              <a:rPr lang="en-IN" dirty="0" err="1"/>
              <a:t>authenticationManager.authenticate</a:t>
            </a:r>
            <a:r>
              <a:rPr lang="en-IN" dirty="0"/>
              <a:t>(</a:t>
            </a:r>
            <a:r>
              <a:rPr lang="en-IN" dirty="0" err="1"/>
              <a:t>authToken</a:t>
            </a:r>
            <a:r>
              <a:rPr lang="en-IN" dirty="0"/>
              <a:t>);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    // 3. If no exception was thrown, user is verified! Set context.</a:t>
            </a:r>
          </a:p>
          <a:p>
            <a:pPr marL="914400" lvl="2" indent="0">
              <a:buNone/>
            </a:pPr>
            <a:r>
              <a:rPr lang="en-IN" dirty="0"/>
              <a:t>        </a:t>
            </a:r>
            <a:r>
              <a:rPr lang="en-IN" dirty="0" err="1"/>
              <a:t>SecurityContextHolder.getContext</a:t>
            </a:r>
            <a:r>
              <a:rPr lang="en-IN" dirty="0"/>
              <a:t>().</a:t>
            </a:r>
            <a:r>
              <a:rPr lang="en-IN" dirty="0" err="1"/>
              <a:t>setAuthentication</a:t>
            </a:r>
            <a:r>
              <a:rPr lang="en-IN" dirty="0"/>
              <a:t>(authentication);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        return </a:t>
            </a:r>
            <a:r>
              <a:rPr lang="en-IN" dirty="0" err="1"/>
              <a:t>ResponseEntity.ok</a:t>
            </a:r>
            <a:r>
              <a:rPr lang="en-IN" dirty="0"/>
              <a:t>("Login successful!");</a:t>
            </a:r>
          </a:p>
          <a:p>
            <a:pPr marL="914400" lvl="2" indent="0">
              <a:buNone/>
            </a:pPr>
            <a:r>
              <a:rPr lang="en-IN" dirty="0"/>
              <a:t>    }</a:t>
            </a:r>
          </a:p>
          <a:p>
            <a:pPr marL="914400" lvl="2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197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C5AE-FE40-311E-AB70-FA12EE8A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B3C0-7C2D-12A3-2E01-0674F9EE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3136"/>
            <a:ext cx="10515600" cy="5283827"/>
          </a:xfrm>
        </p:spPr>
        <p:txBody>
          <a:bodyPr/>
          <a:lstStyle/>
          <a:p>
            <a:r>
              <a:rPr lang="en-IN" dirty="0"/>
              <a:t>In Spring Security, the </a:t>
            </a:r>
            <a:r>
              <a:rPr lang="en-IN" b="1" dirty="0" err="1"/>
              <a:t>AuthenticationProvider</a:t>
            </a:r>
            <a:r>
              <a:rPr lang="en-IN" dirty="0"/>
              <a:t> is where the actual validation logic for a specific type of authentication happens.</a:t>
            </a:r>
          </a:p>
          <a:p>
            <a:r>
              <a:rPr lang="en-IN" dirty="0"/>
              <a:t>While the </a:t>
            </a:r>
            <a:r>
              <a:rPr lang="en-IN" dirty="0" err="1"/>
              <a:t>AuthenticationManager</a:t>
            </a:r>
            <a:r>
              <a:rPr lang="en-IN" dirty="0"/>
              <a:t> acts as the coordinator (the boss), it delegates the real work to one or more </a:t>
            </a:r>
            <a:r>
              <a:rPr lang="en-IN" dirty="0" err="1"/>
              <a:t>AuthenticationProvider</a:t>
            </a:r>
            <a:r>
              <a:rPr lang="en-IN" dirty="0"/>
              <a:t> instances (the workers). Each provider is specialized in handling a precise kind of authentication token.</a:t>
            </a:r>
          </a:p>
          <a:p>
            <a:r>
              <a:rPr lang="en-IN" b="1" dirty="0"/>
              <a:t>The Core Interface</a:t>
            </a:r>
          </a:p>
          <a:p>
            <a:r>
              <a:rPr lang="en-IN" dirty="0"/>
              <a:t>The interface is incredibly straightforward, defining just two methods: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0C239-D5F1-9240-0DB5-52F698D3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04" y="4805796"/>
            <a:ext cx="6994242" cy="1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5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8E01-8628-80CA-437E-267A88A0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601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AE743-E68A-FE93-AA58-FA3B097E4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726"/>
            <a:ext cx="10515600" cy="575221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How supports() Works</a:t>
            </a:r>
          </a:p>
          <a:p>
            <a:pPr lvl="1"/>
            <a:r>
              <a:rPr lang="en-IN" dirty="0"/>
              <a:t>When the </a:t>
            </a:r>
            <a:r>
              <a:rPr lang="en-IN" dirty="0" err="1"/>
              <a:t>ProviderManager</a:t>
            </a:r>
            <a:r>
              <a:rPr lang="en-IN" dirty="0"/>
              <a:t> loops through its list of providers, it asks each one: </a:t>
            </a:r>
            <a:r>
              <a:rPr lang="en-IN" i="1" dirty="0"/>
              <a:t>"Do you support this type of login token?"</a:t>
            </a:r>
            <a:endParaRPr lang="en-IN" dirty="0"/>
          </a:p>
          <a:p>
            <a:pPr lvl="1"/>
            <a:r>
              <a:rPr lang="en-IN" dirty="0"/>
              <a:t>If a user submits a username and password, supports() checks for </a:t>
            </a:r>
            <a:r>
              <a:rPr lang="en-IN" dirty="0" err="1"/>
              <a:t>UsernamePasswordAuthenticationToken.class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If a user provides a JWT, supports() checks for </a:t>
            </a:r>
            <a:r>
              <a:rPr lang="en-IN" dirty="0" err="1"/>
              <a:t>BearerTokenAuthenticationToken.class</a:t>
            </a:r>
            <a:r>
              <a:rPr lang="en-IN" dirty="0"/>
              <a:t>.</a:t>
            </a:r>
          </a:p>
          <a:p>
            <a:r>
              <a:rPr lang="en-IN" b="1" dirty="0"/>
              <a:t>Built-in Providers You Use Every Day</a:t>
            </a:r>
          </a:p>
          <a:p>
            <a:pPr lvl="1"/>
            <a:r>
              <a:rPr lang="en-IN" dirty="0"/>
              <a:t>Spring Security comes packed with built-in implementations so you don't have to reinvent the wheel:</a:t>
            </a:r>
          </a:p>
          <a:p>
            <a:pPr lvl="1"/>
            <a:r>
              <a:rPr lang="en-IN" b="1" dirty="0" err="1"/>
              <a:t>DaoAuthenticationProvider</a:t>
            </a:r>
            <a:endParaRPr lang="en-IN" b="1" dirty="0"/>
          </a:p>
          <a:p>
            <a:pPr lvl="2"/>
            <a:r>
              <a:rPr lang="en-IN" dirty="0"/>
              <a:t>This is the most widely used provider in standard web applications. It handles username/password authentication by:</a:t>
            </a:r>
          </a:p>
          <a:p>
            <a:pPr lvl="2"/>
            <a:r>
              <a:rPr lang="en-IN" dirty="0"/>
              <a:t>Fetching user details from a database using a </a:t>
            </a:r>
            <a:r>
              <a:rPr lang="en-IN" dirty="0" err="1"/>
              <a:t>UserDetailsService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Validating the submitted raw password against the database's hashed password using a </a:t>
            </a:r>
            <a:r>
              <a:rPr lang="en-IN" dirty="0" err="1"/>
              <a:t>PasswordEncoder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Checking if the account is locked, expired, or disabled.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782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847B-C011-F7EA-4D31-0E282486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335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CA0B-C0F8-0316-7DB0-C4FCD9CC3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460"/>
            <a:ext cx="10515600" cy="5784112"/>
          </a:xfrm>
        </p:spPr>
        <p:txBody>
          <a:bodyPr>
            <a:normAutofit/>
          </a:bodyPr>
          <a:lstStyle/>
          <a:p>
            <a:r>
              <a:rPr lang="en-IN" sz="2000" b="1" dirty="0" err="1"/>
              <a:t>JwtAuthenticationProvider</a:t>
            </a:r>
            <a:endParaRPr lang="en-IN" sz="2000" b="1" dirty="0"/>
          </a:p>
          <a:p>
            <a:pPr lvl="1"/>
            <a:r>
              <a:rPr lang="en-IN" sz="2000" dirty="0"/>
              <a:t>Commonly used in modern stateless REST APIs. It parses, validates the digital signature of, and extracts claims from a JSON Web Token (JWT).</a:t>
            </a:r>
          </a:p>
          <a:p>
            <a:r>
              <a:rPr lang="en-IN" sz="2000" b="1" dirty="0" err="1"/>
              <a:t>RememberMeAuthenticationProvider</a:t>
            </a:r>
            <a:endParaRPr lang="en-IN" sz="2000" b="1" dirty="0"/>
          </a:p>
          <a:p>
            <a:pPr lvl="1"/>
            <a:r>
              <a:rPr lang="en-IN" sz="2000" dirty="0"/>
              <a:t>Handles persistent login cookies ("Remember Me" checkboxes) so users stay logged in even after closing their browsers or restarting the server.</a:t>
            </a:r>
          </a:p>
          <a:p>
            <a:pPr marL="0" indent="0">
              <a:buNone/>
            </a:pPr>
            <a:r>
              <a:rPr lang="en-IN" sz="2000" b="1" dirty="0"/>
              <a:t>3. Creating a Custom </a:t>
            </a:r>
            <a:r>
              <a:rPr lang="en-IN" sz="2000" b="1" dirty="0" err="1"/>
              <a:t>AuthenticationProvider</a:t>
            </a:r>
            <a:endParaRPr lang="en-IN" sz="2000" b="1" dirty="0"/>
          </a:p>
          <a:p>
            <a:pPr lvl="1"/>
            <a:r>
              <a:rPr lang="en-IN" sz="2000" dirty="0"/>
              <a:t>Sometimes, standard database or token lookups aren't enough. You might need to authenticate users against a proprietary external legacy API, verify a third-party biometric token, or check a custom hardware key. This is where you write your own provider.</a:t>
            </a:r>
          </a:p>
          <a:p>
            <a:pPr lvl="1"/>
            <a:r>
              <a:rPr lang="en-IN" sz="2000" dirty="0"/>
              <a:t>Here is an example of a custom provider that authenticates a user by calling an external corporate HR API: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358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326D-31F2-394D-E0F3-8268D8DC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908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26A9-8B20-ECBA-1B75-73B196BAA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034"/>
            <a:ext cx="10515600" cy="525192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@Component</a:t>
            </a:r>
          </a:p>
          <a:p>
            <a:pPr marL="457200" lvl="1" indent="0">
              <a:buNone/>
            </a:pPr>
            <a:r>
              <a:rPr lang="en-IN" sz="900" dirty="0"/>
              <a:t>public class </a:t>
            </a:r>
            <a:r>
              <a:rPr lang="en-IN" sz="900" dirty="0" err="1"/>
              <a:t>ExternalApiAuthenticationProvider</a:t>
            </a:r>
            <a:r>
              <a:rPr lang="en-IN" sz="900" dirty="0"/>
              <a:t> implements </a:t>
            </a:r>
            <a:r>
              <a:rPr lang="en-IN" sz="900" dirty="0" err="1"/>
              <a:t>AuthenticationProvider</a:t>
            </a:r>
            <a:r>
              <a:rPr lang="en-IN" sz="900" dirty="0"/>
              <a:t> {</a:t>
            </a:r>
          </a:p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// Simulating an external client dependency</a:t>
            </a:r>
          </a:p>
          <a:p>
            <a:pPr marL="457200" lvl="1" indent="0">
              <a:buNone/>
            </a:pPr>
            <a:r>
              <a:rPr lang="en-IN" sz="900" dirty="0"/>
              <a:t>    // @Autowired private </a:t>
            </a:r>
            <a:r>
              <a:rPr lang="en-IN" sz="900" dirty="0" err="1"/>
              <a:t>ExternalHrClient</a:t>
            </a:r>
            <a:r>
              <a:rPr lang="en-IN" sz="900" dirty="0"/>
              <a:t> </a:t>
            </a:r>
            <a:r>
              <a:rPr lang="en-IN" sz="900" dirty="0" err="1"/>
              <a:t>hrClient</a:t>
            </a:r>
            <a:r>
              <a:rPr lang="en-IN" sz="900" dirty="0"/>
              <a:t>;</a:t>
            </a:r>
          </a:p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@Override</a:t>
            </a:r>
          </a:p>
          <a:p>
            <a:pPr marL="457200" lvl="1" indent="0">
              <a:buNone/>
            </a:pPr>
            <a:r>
              <a:rPr lang="en-IN" sz="900" dirty="0"/>
              <a:t>    public Authentication authenticate(Authentication authentication) throws </a:t>
            </a:r>
            <a:r>
              <a:rPr lang="en-IN" sz="900" dirty="0" err="1"/>
              <a:t>AuthenticationException</a:t>
            </a:r>
            <a:r>
              <a:rPr lang="en-IN" sz="900" dirty="0"/>
              <a:t> {</a:t>
            </a:r>
          </a:p>
          <a:p>
            <a:pPr marL="457200" lvl="1" indent="0">
              <a:buNone/>
            </a:pPr>
            <a:r>
              <a:rPr lang="en-IN" sz="900" dirty="0"/>
              <a:t>        // 1. Extract credentials from the unauthenticated token</a:t>
            </a:r>
          </a:p>
          <a:p>
            <a:pPr marL="457200" lvl="1" indent="0">
              <a:buNone/>
            </a:pPr>
            <a:r>
              <a:rPr lang="en-IN" sz="900" dirty="0"/>
              <a:t>        String username = </a:t>
            </a:r>
            <a:r>
              <a:rPr lang="en-IN" sz="900" dirty="0" err="1"/>
              <a:t>authentication.getName</a:t>
            </a:r>
            <a:r>
              <a:rPr lang="en-IN" sz="900" dirty="0"/>
              <a:t>();</a:t>
            </a:r>
          </a:p>
          <a:p>
            <a:pPr marL="457200" lvl="1" indent="0">
              <a:buNone/>
            </a:pPr>
            <a:r>
              <a:rPr lang="en-IN" sz="900" dirty="0"/>
              <a:t>        String password = </a:t>
            </a:r>
            <a:r>
              <a:rPr lang="en-IN" sz="900" dirty="0" err="1"/>
              <a:t>authentication.getCredentials</a:t>
            </a:r>
            <a:r>
              <a:rPr lang="en-IN" sz="900" dirty="0"/>
              <a:t>().</a:t>
            </a:r>
            <a:r>
              <a:rPr lang="en-IN" sz="900" dirty="0" err="1"/>
              <a:t>toString</a:t>
            </a:r>
            <a:r>
              <a:rPr lang="en-IN" sz="900" dirty="0"/>
              <a:t>();</a:t>
            </a:r>
          </a:p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    // 2. Execute custom third-party validation logic</a:t>
            </a:r>
          </a:p>
          <a:p>
            <a:pPr marL="457200" lvl="1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boolean</a:t>
            </a:r>
            <a:r>
              <a:rPr lang="en-IN" sz="900" dirty="0"/>
              <a:t> </a:t>
            </a:r>
            <a:r>
              <a:rPr lang="en-IN" sz="900" dirty="0" err="1"/>
              <a:t>isValidUser</a:t>
            </a:r>
            <a:r>
              <a:rPr lang="en-IN" sz="900" dirty="0"/>
              <a:t> = "</a:t>
            </a:r>
            <a:r>
              <a:rPr lang="en-IN" sz="900" dirty="0" err="1"/>
              <a:t>admin".equals</a:t>
            </a:r>
            <a:r>
              <a:rPr lang="en-IN" sz="900" dirty="0"/>
              <a:t>(username) &amp;&amp; "</a:t>
            </a:r>
            <a:r>
              <a:rPr lang="en-IN" sz="900" dirty="0" err="1"/>
              <a:t>supersecret".equals</a:t>
            </a:r>
            <a:r>
              <a:rPr lang="en-IN" sz="900" dirty="0"/>
              <a:t>(password); </a:t>
            </a:r>
          </a:p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    if (</a:t>
            </a:r>
            <a:r>
              <a:rPr lang="en-IN" sz="900" dirty="0" err="1"/>
              <a:t>isValidUser</a:t>
            </a:r>
            <a:r>
              <a:rPr lang="en-IN" sz="900" dirty="0"/>
              <a:t>) {</a:t>
            </a:r>
          </a:p>
          <a:p>
            <a:pPr marL="457200" lvl="1" indent="0">
              <a:buNone/>
            </a:pPr>
            <a:r>
              <a:rPr lang="en-IN" sz="900" dirty="0"/>
              <a:t>            // 3. If valid, return a FULLY AUTHENTICATED token containing permissions/roles</a:t>
            </a:r>
          </a:p>
          <a:p>
            <a:pPr marL="457200" lvl="1" indent="0">
              <a:buNone/>
            </a:pPr>
            <a:r>
              <a:rPr lang="en-IN" sz="900" dirty="0"/>
              <a:t>            var authorities = </a:t>
            </a:r>
            <a:r>
              <a:rPr lang="en-IN" sz="900" dirty="0" err="1"/>
              <a:t>List.of</a:t>
            </a:r>
            <a:r>
              <a:rPr lang="en-IN" sz="900" dirty="0"/>
              <a:t>(new </a:t>
            </a:r>
            <a:r>
              <a:rPr lang="en-IN" sz="900" dirty="0" err="1"/>
              <a:t>SimpleGrantedAuthority</a:t>
            </a:r>
            <a:r>
              <a:rPr lang="en-IN" sz="900" dirty="0"/>
              <a:t>("ROLE_ADMIN"));</a:t>
            </a:r>
          </a:p>
          <a:p>
            <a:pPr marL="457200" lvl="1" indent="0">
              <a:buNone/>
            </a:pPr>
            <a:r>
              <a:rPr lang="en-IN" sz="900" dirty="0"/>
              <a:t>            return new </a:t>
            </a:r>
            <a:r>
              <a:rPr lang="en-IN" sz="900" dirty="0" err="1"/>
              <a:t>UsernamePasswordAuthenticationToken</a:t>
            </a:r>
            <a:r>
              <a:rPr lang="en-IN" sz="900" dirty="0"/>
              <a:t>(username, password, authorities);</a:t>
            </a:r>
          </a:p>
          <a:p>
            <a:pPr marL="457200" lvl="1" indent="0">
              <a:buNone/>
            </a:pPr>
            <a:r>
              <a:rPr lang="en-IN" sz="900" dirty="0"/>
              <a:t>        } else {</a:t>
            </a:r>
          </a:p>
          <a:p>
            <a:pPr marL="457200" lvl="1" indent="0">
              <a:buNone/>
            </a:pPr>
            <a:r>
              <a:rPr lang="en-IN" sz="900" dirty="0"/>
              <a:t>            // 4. If invalid, throw a subclass of </a:t>
            </a:r>
            <a:r>
              <a:rPr lang="en-IN" sz="900" dirty="0" err="1"/>
              <a:t>AuthenticationException</a:t>
            </a: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        throw new </a:t>
            </a:r>
            <a:r>
              <a:rPr lang="en-IN" sz="900" dirty="0" err="1"/>
              <a:t>BadCredentialsException</a:t>
            </a:r>
            <a:r>
              <a:rPr lang="en-IN" sz="900" dirty="0"/>
              <a:t>("External API authentication failed.");</a:t>
            </a:r>
          </a:p>
          <a:p>
            <a:pPr marL="457200" lvl="1" indent="0">
              <a:buNone/>
            </a:pPr>
            <a:r>
              <a:rPr lang="en-IN" sz="900" dirty="0"/>
              <a:t>        }</a:t>
            </a:r>
          </a:p>
          <a:p>
            <a:pPr marL="457200" lvl="1" indent="0">
              <a:buNone/>
            </a:pPr>
            <a:r>
              <a:rPr lang="en-IN" sz="900" dirty="0"/>
              <a:t>    }</a:t>
            </a:r>
          </a:p>
          <a:p>
            <a:pPr marL="457200" lvl="1" indent="0">
              <a:buNone/>
            </a:pPr>
            <a:endParaRPr lang="en-IN" sz="900" dirty="0"/>
          </a:p>
          <a:p>
            <a:pPr marL="457200" lvl="1" indent="0">
              <a:buNone/>
            </a:pPr>
            <a:r>
              <a:rPr lang="en-IN" sz="900" dirty="0"/>
              <a:t>    @Override</a:t>
            </a:r>
          </a:p>
          <a:p>
            <a:pPr marL="457200" lvl="1" indent="0">
              <a:buNone/>
            </a:pPr>
            <a:r>
              <a:rPr lang="en-IN" sz="900" dirty="0"/>
              <a:t>    public </a:t>
            </a:r>
            <a:r>
              <a:rPr lang="en-IN" sz="900" dirty="0" err="1"/>
              <a:t>boolean</a:t>
            </a:r>
            <a:r>
              <a:rPr lang="en-IN" sz="900" dirty="0"/>
              <a:t> supports(Class&lt;?&gt; authentication) {</a:t>
            </a:r>
          </a:p>
          <a:p>
            <a:pPr marL="457200" lvl="1" indent="0">
              <a:buNone/>
            </a:pPr>
            <a:r>
              <a:rPr lang="en-IN" sz="900" dirty="0"/>
              <a:t>        // Tell Spring Security to route standard username/password tokens to this provider</a:t>
            </a:r>
          </a:p>
          <a:p>
            <a:pPr marL="457200" lvl="1" indent="0">
              <a:buNone/>
            </a:pPr>
            <a:r>
              <a:rPr lang="en-IN" sz="900" dirty="0"/>
              <a:t>        return </a:t>
            </a:r>
            <a:r>
              <a:rPr lang="en-IN" sz="900" dirty="0" err="1"/>
              <a:t>UsernamePasswordAuthenticationToken.class.isAssignableFrom</a:t>
            </a:r>
            <a:r>
              <a:rPr lang="en-IN" sz="900" dirty="0"/>
              <a:t>(authentication);</a:t>
            </a:r>
          </a:p>
          <a:p>
            <a:pPr marL="457200" lvl="1" indent="0">
              <a:buNone/>
            </a:pPr>
            <a:r>
              <a:rPr lang="en-IN" sz="900" dirty="0"/>
              <a:t>    }</a:t>
            </a:r>
          </a:p>
          <a:p>
            <a:pPr marL="457200" lvl="1" indent="0">
              <a:buNone/>
            </a:pPr>
            <a:r>
              <a:rPr lang="en-IN" sz="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3369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B387-BAA1-3551-416C-3726ABD49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Authentication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E9D57-0993-89EA-1E50-21D11564B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/>
          <a:lstStyle/>
          <a:p>
            <a:r>
              <a:rPr lang="en-IN" b="1" dirty="0"/>
              <a:t>Registering Your Custom Provider</a:t>
            </a:r>
          </a:p>
          <a:p>
            <a:pPr lvl="1"/>
            <a:r>
              <a:rPr lang="en-IN" dirty="0"/>
              <a:t>Once you mark your custom provider with @Component, modern versions of Spring Boot and Spring Security will automatically discover it and add it to the </a:t>
            </a:r>
            <a:r>
              <a:rPr lang="en-IN" dirty="0" err="1"/>
              <a:t>ProviderManager's</a:t>
            </a:r>
            <a:r>
              <a:rPr lang="en-IN" dirty="0"/>
              <a:t> list of providers.</a:t>
            </a:r>
          </a:p>
          <a:p>
            <a:pPr lvl="1"/>
            <a:r>
              <a:rPr lang="en-IN" dirty="0"/>
              <a:t>If you ever need to register it explicitly within your filter chain setup, you can do so like this: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805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566A-A993-0D1A-587C-8DDBBBFD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8642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JWT &amp; Why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BD3D-DD49-AEC3-F9DC-40F23DF54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68"/>
            <a:ext cx="10515600" cy="5273195"/>
          </a:xfrm>
        </p:spPr>
        <p:txBody>
          <a:bodyPr/>
          <a:lstStyle/>
          <a:p>
            <a:r>
              <a:rPr lang="en-IN" dirty="0"/>
              <a:t>In traditional web apps, session data is stored on the server memory (stateful). With REST APIs and microservices, we prefer </a:t>
            </a:r>
            <a:r>
              <a:rPr lang="en-IN" b="1" dirty="0"/>
              <a:t>stateless</a:t>
            </a:r>
            <a:r>
              <a:rPr lang="en-IN" dirty="0"/>
              <a:t> authentication.</a:t>
            </a:r>
          </a:p>
          <a:p>
            <a:r>
              <a:rPr lang="en-IN" b="1" dirty="0"/>
              <a:t>Stateless:</a:t>
            </a:r>
            <a:r>
              <a:rPr lang="en-IN" dirty="0"/>
              <a:t> The server does not keep a record of logged-in users. Everything needed to identify the user is inside the token itself. </a:t>
            </a:r>
          </a:p>
          <a:p>
            <a:r>
              <a:rPr lang="en-IN" b="1" dirty="0"/>
              <a:t>Structure:</a:t>
            </a:r>
            <a:r>
              <a:rPr lang="en-IN" dirty="0"/>
              <a:t> A JWT is a single string split into three Base64Url-encoded parts separated by dots (.):</a:t>
            </a:r>
          </a:p>
          <a:p>
            <a:pPr lvl="1"/>
            <a:r>
              <a:rPr lang="en-IN" b="1" dirty="0"/>
              <a:t>Header:</a:t>
            </a:r>
            <a:r>
              <a:rPr lang="en-IN" dirty="0"/>
              <a:t> Specifies the token type and signing algorithm (e.g., HS256).</a:t>
            </a:r>
          </a:p>
          <a:p>
            <a:pPr lvl="1"/>
            <a:r>
              <a:rPr lang="en-IN" b="1" dirty="0"/>
              <a:t>Payload:</a:t>
            </a:r>
            <a:r>
              <a:rPr lang="en-IN" dirty="0"/>
              <a:t> Contains the </a:t>
            </a:r>
            <a:r>
              <a:rPr lang="en-IN" b="1" dirty="0"/>
              <a:t>claims</a:t>
            </a:r>
            <a:r>
              <a:rPr lang="en-IN" dirty="0"/>
              <a:t> (user data like username, roles, and expiration time). </a:t>
            </a:r>
          </a:p>
          <a:p>
            <a:pPr lvl="1"/>
            <a:r>
              <a:rPr lang="en-IN" b="1" dirty="0"/>
              <a:t>Signature:</a:t>
            </a:r>
            <a:r>
              <a:rPr lang="en-IN" dirty="0"/>
              <a:t> Formed by signing the encoded header + payload with a secret key to prevent tampering.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50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2171-3C8C-AC29-6302-9B7BE64F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IN" dirty="0"/>
              <a:t>The Core JWT Authentication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9012-B6E4-229B-DA6E-5B9E7F7B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3136"/>
            <a:ext cx="10515600" cy="5283827"/>
          </a:xfrm>
        </p:spPr>
        <p:txBody>
          <a:bodyPr/>
          <a:lstStyle/>
          <a:p>
            <a:r>
              <a:rPr lang="en-IN" dirty="0"/>
              <a:t>When securing an API with JWT in Spring Security, the typical request/response flow looks like this: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Authentication (Login):</a:t>
            </a:r>
            <a:r>
              <a:rPr lang="en-IN" dirty="0"/>
              <a:t> Client sends credentials . The server verifies them against the database. If valid, the server generates a JWT and returns it to the client.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Authorization (Subsequent Requests):</a:t>
            </a:r>
            <a:r>
              <a:rPr lang="en-IN" dirty="0"/>
              <a:t> For protected resources, the client attaches the token to the HTTP </a:t>
            </a:r>
            <a:r>
              <a:rPr lang="en-IN" b="1" dirty="0"/>
              <a:t>Authorization</a:t>
            </a:r>
            <a:r>
              <a:rPr lang="en-IN" dirty="0"/>
              <a:t> header as a Bearer token: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Authorization: Bearer &lt;</a:t>
            </a:r>
            <a:r>
              <a:rPr lang="en-IN" dirty="0" err="1"/>
              <a:t>your_jwt_token</a:t>
            </a:r>
            <a:r>
              <a:rPr lang="en-IN" dirty="0"/>
              <a:t>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Validation:</a:t>
            </a:r>
            <a:r>
              <a:rPr lang="en-IN" dirty="0"/>
              <a:t> The server intercepts the request, decodes the token, checks if it's expired or altered, and loads the user into the security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356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AC7A-1F11-D0E1-67DD-EED94585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3582"/>
          </a:xfrm>
        </p:spPr>
        <p:txBody>
          <a:bodyPr>
            <a:normAutofit fontScale="90000"/>
          </a:bodyPr>
          <a:lstStyle/>
          <a:p>
            <a:r>
              <a:rPr lang="en-IN" dirty="0"/>
              <a:t>Key Components in Spring Boot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C2F1-D957-9AB0-A11E-83B4BFA8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708"/>
            <a:ext cx="10515600" cy="5964864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To implement this, you generally build or configure five key building blocks:</a:t>
            </a:r>
          </a:p>
          <a:p>
            <a:r>
              <a:rPr lang="en-IN" b="1" dirty="0"/>
              <a:t>A. JWT Service (JwtService.java)</a:t>
            </a:r>
          </a:p>
          <a:p>
            <a:pPr lvl="1"/>
            <a:r>
              <a:rPr lang="en-IN" dirty="0"/>
              <a:t>A utility class responsible for interacting directly with the JWT library (like </a:t>
            </a:r>
            <a:r>
              <a:rPr lang="en-IN" dirty="0" err="1"/>
              <a:t>io.jsonwebtoken:jjwt</a:t>
            </a:r>
            <a:r>
              <a:rPr lang="en-IN" dirty="0"/>
              <a:t>).</a:t>
            </a:r>
          </a:p>
          <a:p>
            <a:pPr lvl="2"/>
            <a:r>
              <a:rPr lang="en-IN" b="1" dirty="0"/>
              <a:t>Responsibilities:</a:t>
            </a:r>
            <a:r>
              <a:rPr lang="en-IN" dirty="0"/>
              <a:t> Generating tokens, extracting claims (like username), and validating token expiration. </a:t>
            </a:r>
          </a:p>
          <a:p>
            <a:r>
              <a:rPr lang="en-IN" b="1" dirty="0"/>
              <a:t>B. Custom JWT Request Filter (JwtAuthenticationFilter.java)</a:t>
            </a:r>
          </a:p>
          <a:p>
            <a:pPr lvl="1"/>
            <a:r>
              <a:rPr lang="en-IN" dirty="0"/>
              <a:t>A custom servlet filter that intercepts every incoming request </a:t>
            </a:r>
            <a:r>
              <a:rPr lang="en-IN" i="1" dirty="0"/>
              <a:t>before</a:t>
            </a:r>
            <a:r>
              <a:rPr lang="en-IN" dirty="0"/>
              <a:t> it hits the controller. </a:t>
            </a:r>
          </a:p>
          <a:p>
            <a:pPr lvl="1"/>
            <a:r>
              <a:rPr lang="en-IN" b="1" dirty="0"/>
              <a:t>Inherits from:</a:t>
            </a:r>
            <a:r>
              <a:rPr lang="en-IN" dirty="0"/>
              <a:t> </a:t>
            </a:r>
            <a:r>
              <a:rPr lang="en-IN" dirty="0" err="1"/>
              <a:t>OncePerRequestFilter</a:t>
            </a:r>
            <a:r>
              <a:rPr lang="en-IN" dirty="0"/>
              <a:t> (ensures it executes exactly once per request).</a:t>
            </a:r>
          </a:p>
          <a:p>
            <a:pPr lvl="1"/>
            <a:r>
              <a:rPr lang="en-IN" b="1" dirty="0"/>
              <a:t>Logic:</a:t>
            </a:r>
            <a:r>
              <a:rPr lang="en-IN" dirty="0"/>
              <a:t> 1. Extracts the token from the Authorization header.</a:t>
            </a:r>
          </a:p>
          <a:p>
            <a:pPr lvl="1"/>
            <a:r>
              <a:rPr lang="en-IN" dirty="0"/>
              <a:t>2. Validates the token using </a:t>
            </a:r>
            <a:r>
              <a:rPr lang="en-IN" dirty="0" err="1"/>
              <a:t>JwtService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3. If valid, fetches user details, creates a </a:t>
            </a:r>
            <a:r>
              <a:rPr lang="en-IN" dirty="0" err="1"/>
              <a:t>UsernamePasswordAuthenticationToken</a:t>
            </a:r>
            <a:r>
              <a:rPr lang="en-IN" dirty="0"/>
              <a:t>, and stores it in Spring’s </a:t>
            </a:r>
            <a:r>
              <a:rPr lang="en-IN" dirty="0" err="1"/>
              <a:t>SecurityContextHolder</a:t>
            </a:r>
            <a:r>
              <a:rPr lang="en-IN" dirty="0"/>
              <a:t>.</a:t>
            </a:r>
          </a:p>
          <a:p>
            <a:r>
              <a:rPr lang="en-IN" b="1" dirty="0"/>
              <a:t>C. Security Configuration (SecurityConfig.java)</a:t>
            </a:r>
          </a:p>
          <a:p>
            <a:r>
              <a:rPr lang="en-IN" dirty="0"/>
              <a:t>The command </a:t>
            </a:r>
            <a:r>
              <a:rPr lang="en-IN" dirty="0" err="1"/>
              <a:t>center</a:t>
            </a:r>
            <a:r>
              <a:rPr lang="en-IN" dirty="0"/>
              <a:t> where you tell Spring Security how to behave.</a:t>
            </a:r>
          </a:p>
          <a:p>
            <a:r>
              <a:rPr lang="en-IN" b="1" dirty="0"/>
              <a:t>Key Annotations:</a:t>
            </a:r>
            <a:r>
              <a:rPr lang="en-IN" dirty="0"/>
              <a:t> @Configuration and @EnableWebSecurity.</a:t>
            </a:r>
          </a:p>
          <a:p>
            <a:r>
              <a:rPr lang="en-IN" b="1" dirty="0"/>
              <a:t>Crucial Settings:</a:t>
            </a:r>
            <a:endParaRPr lang="en-IN" dirty="0"/>
          </a:p>
          <a:p>
            <a:pPr lvl="1"/>
            <a:r>
              <a:rPr lang="en-IN" dirty="0"/>
              <a:t>Disable </a:t>
            </a:r>
            <a:r>
              <a:rPr lang="en-IN" b="1" dirty="0"/>
              <a:t>CSRF</a:t>
            </a:r>
            <a:r>
              <a:rPr lang="en-IN" dirty="0"/>
              <a:t> (Cross-Site Request Forgery) because JWTs are stateful-session-free and less vulnerable to standard cookie-based CSRF.</a:t>
            </a:r>
          </a:p>
          <a:p>
            <a:pPr lvl="1"/>
            <a:r>
              <a:rPr lang="en-IN" dirty="0"/>
              <a:t>Set session creation policy to </a:t>
            </a:r>
            <a:r>
              <a:rPr lang="en-IN" b="1" dirty="0"/>
              <a:t>Stateless</a:t>
            </a:r>
            <a:r>
              <a:rPr lang="en-IN" dirty="0"/>
              <a:t> (</a:t>
            </a:r>
            <a:r>
              <a:rPr lang="en-IN" dirty="0" err="1"/>
              <a:t>SessionCreationPolicy.STATELESS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Expose login/registration endpoints to everyone (.</a:t>
            </a:r>
            <a:r>
              <a:rPr lang="en-IN" dirty="0" err="1"/>
              <a:t>requestMatchers</a:t>
            </a:r>
            <a:r>
              <a:rPr lang="en-IN" dirty="0"/>
              <a:t>("/auth/").</a:t>
            </a:r>
            <a:r>
              <a:rPr lang="en-IN" dirty="0" err="1"/>
              <a:t>permitAll</a:t>
            </a:r>
            <a:r>
              <a:rPr lang="en-IN" dirty="0"/>
              <a:t>()).</a:t>
            </a:r>
          </a:p>
          <a:p>
            <a:pPr lvl="1"/>
            <a:r>
              <a:rPr lang="en-IN" dirty="0"/>
              <a:t>Secure all other endpoints (.</a:t>
            </a:r>
            <a:r>
              <a:rPr lang="en-IN" dirty="0" err="1"/>
              <a:t>anyRequest</a:t>
            </a:r>
            <a:r>
              <a:rPr lang="en-IN" dirty="0"/>
              <a:t>().authenticated()).</a:t>
            </a:r>
          </a:p>
          <a:p>
            <a:pPr lvl="1"/>
            <a:r>
              <a:rPr lang="en-IN" dirty="0"/>
              <a:t>Add your </a:t>
            </a:r>
            <a:r>
              <a:rPr lang="en-IN" dirty="0" err="1"/>
              <a:t>JwtAuthenticationFilter</a:t>
            </a:r>
            <a:r>
              <a:rPr lang="en-IN" dirty="0"/>
              <a:t> </a:t>
            </a:r>
            <a:r>
              <a:rPr lang="en-IN" b="1" dirty="0"/>
              <a:t>before</a:t>
            </a:r>
            <a:r>
              <a:rPr lang="en-IN" dirty="0"/>
              <a:t> Spring's standard </a:t>
            </a:r>
            <a:r>
              <a:rPr lang="en-IN" dirty="0" err="1"/>
              <a:t>UsernamePasswordAuthenticationFilter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68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DBB28-4F9B-336C-D55A-901AF1D1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8586"/>
            <a:ext cx="10515600" cy="552837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D. User Details Service (UserDetailsServiceImpl.java)</a:t>
            </a:r>
          </a:p>
          <a:p>
            <a:pPr marL="457200" lvl="1" indent="0">
              <a:buNone/>
            </a:pPr>
            <a:r>
              <a:rPr lang="en-IN" dirty="0"/>
              <a:t>Implements Spring Security’s </a:t>
            </a:r>
            <a:r>
              <a:rPr lang="en-IN" dirty="0" err="1"/>
              <a:t>UserDetailsService</a:t>
            </a:r>
            <a:r>
              <a:rPr lang="en-IN" dirty="0"/>
              <a:t>.</a:t>
            </a:r>
          </a:p>
          <a:p>
            <a:pPr marL="457200" lvl="1" indent="0">
              <a:buNone/>
            </a:pPr>
            <a:r>
              <a:rPr lang="en-IN" dirty="0"/>
              <a:t>Overrides </a:t>
            </a:r>
            <a:r>
              <a:rPr lang="en-IN" dirty="0" err="1"/>
              <a:t>loadUserByUsername</a:t>
            </a:r>
            <a:r>
              <a:rPr lang="en-IN" dirty="0"/>
              <a:t>(String username) to fetch user credentials and roles from your database (e.g., MySQL, PostgreSQL).</a:t>
            </a:r>
          </a:p>
          <a:p>
            <a:pPr marL="0" indent="0">
              <a:buNone/>
            </a:pPr>
            <a:r>
              <a:rPr lang="en-IN" b="1" dirty="0"/>
              <a:t>E. Authentication Controller (AuthController.java)</a:t>
            </a:r>
          </a:p>
          <a:p>
            <a:pPr marL="457200" lvl="1" indent="0">
              <a:buNone/>
            </a:pPr>
            <a:r>
              <a:rPr lang="en-IN" dirty="0"/>
              <a:t>Exposes endpoints like /auth/register and /auth/login.</a:t>
            </a:r>
          </a:p>
          <a:p>
            <a:pPr marL="457200" lvl="1" indent="0">
              <a:buNone/>
            </a:pPr>
            <a:r>
              <a:rPr lang="en-IN" dirty="0"/>
              <a:t>Uses Spring's </a:t>
            </a:r>
            <a:r>
              <a:rPr lang="en-IN" dirty="0" err="1"/>
              <a:t>AuthenticationManager</a:t>
            </a:r>
            <a:r>
              <a:rPr lang="en-IN" dirty="0"/>
              <a:t> to verify raw usernames and passwords before passing off token generation to the </a:t>
            </a:r>
            <a:r>
              <a:rPr lang="en-IN" dirty="0" err="1"/>
              <a:t>JwtService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054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F8D0-A57A-88CB-FD2F-2FAC8AC8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335"/>
          </a:xfrm>
        </p:spPr>
        <p:txBody>
          <a:bodyPr>
            <a:normAutofit/>
          </a:bodyPr>
          <a:lstStyle/>
          <a:p>
            <a:r>
              <a:rPr lang="en-IN" sz="3600" dirty="0"/>
              <a:t>Summary of Configuration (Spring Security 6.x Style)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FB6A5-45CA-48BF-A42B-6868FE57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460"/>
            <a:ext cx="10515600" cy="5177503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A modern implementation of the security configuration filter chain looks structurally like this: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73836-5C08-6DFC-087F-A620AC93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3795"/>
            <a:ext cx="10092070" cy="478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70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BAFE-275D-2C3A-54BC-92F89B02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7349"/>
          </a:xfrm>
        </p:spPr>
        <p:txBody>
          <a:bodyPr/>
          <a:lstStyle/>
          <a:p>
            <a:r>
              <a:rPr lang="en-IN" b="1" dirty="0"/>
              <a:t>Best Practices &amp; Security Gotchas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9BF9C-C7C7-A563-F804-10ECDEDE7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684"/>
            <a:ext cx="10515600" cy="5039279"/>
          </a:xfrm>
        </p:spPr>
        <p:txBody>
          <a:bodyPr>
            <a:normAutofit/>
          </a:bodyPr>
          <a:lstStyle/>
          <a:p>
            <a:r>
              <a:rPr lang="en-IN" b="1" dirty="0"/>
              <a:t>Never store sensitive info in the Payload:</a:t>
            </a:r>
            <a:r>
              <a:rPr lang="en-IN" dirty="0"/>
              <a:t> Base64 encoding is </a:t>
            </a:r>
            <a:r>
              <a:rPr lang="en-IN" i="1" dirty="0"/>
              <a:t>not</a:t>
            </a:r>
            <a:r>
              <a:rPr lang="en-IN" dirty="0"/>
              <a:t> encryption. Anyone can decode a JWT payload. Do not put passwords or credit cards there. </a:t>
            </a:r>
          </a:p>
          <a:p>
            <a:r>
              <a:rPr lang="en-IN" b="1" dirty="0"/>
              <a:t>Keep Secret Keys Secret:</a:t>
            </a:r>
            <a:r>
              <a:rPr lang="en-IN" dirty="0"/>
              <a:t> Use environment variables or secret vaults (like AWS Secrets Manager or Spring Cloud Vault) to manage the signing key.</a:t>
            </a:r>
          </a:p>
          <a:p>
            <a:r>
              <a:rPr lang="en-IN" b="1" dirty="0"/>
              <a:t>Use Short Expirations:</a:t>
            </a:r>
            <a:r>
              <a:rPr lang="en-IN" dirty="0"/>
              <a:t> Access tokens should expire quickly (e.g., 15 minutes to 1 hour). Pair them with a </a:t>
            </a:r>
            <a:r>
              <a:rPr lang="en-IN" b="1" dirty="0"/>
              <a:t>Refresh Token</a:t>
            </a:r>
            <a:r>
              <a:rPr lang="en-IN" dirty="0"/>
              <a:t> architecture stored securely (e.g., </a:t>
            </a:r>
            <a:r>
              <a:rPr lang="en-IN" dirty="0" err="1"/>
              <a:t>HttpOnly</a:t>
            </a:r>
            <a:r>
              <a:rPr lang="en-IN" dirty="0"/>
              <a:t> cookies) to issue new access tokens without forcing the user to re-login.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56485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69CB-FDFF-3DCA-5769-499720BD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2317"/>
          </a:xfrm>
        </p:spPr>
        <p:txBody>
          <a:bodyPr>
            <a:normAutofit fontScale="90000"/>
          </a:bodyPr>
          <a:lstStyle/>
          <a:p>
            <a:r>
              <a:rPr lang="en-IN" dirty="0"/>
              <a:t>OAuth 2.0 (Authorization Framework)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351D-E240-7695-DBF2-CFECBC306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3135"/>
            <a:ext cx="10515600" cy="55997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What is OAuth 2.0 &amp; OIDC?</a:t>
            </a:r>
          </a:p>
          <a:p>
            <a:r>
              <a:rPr lang="en-IN" dirty="0"/>
              <a:t>Before diving into code, it is vital to separate authentication (who you are) from authorization (what you are allowed to do).</a:t>
            </a:r>
          </a:p>
          <a:p>
            <a:pPr lvl="1"/>
            <a:r>
              <a:rPr lang="en-IN" b="1" dirty="0"/>
              <a:t>OAuth 2.0 (Authorization Framework):</a:t>
            </a:r>
            <a:r>
              <a:rPr lang="en-IN" dirty="0"/>
              <a:t> Allows a third-party application to obtain limited access to an HTTP service on behalf of a resource owner. It issues </a:t>
            </a:r>
            <a:r>
              <a:rPr lang="en-IN" b="1" dirty="0"/>
              <a:t>Access Tokens</a:t>
            </a:r>
            <a:r>
              <a:rPr lang="en-IN" dirty="0"/>
              <a:t> but does not provide user profile details.</a:t>
            </a:r>
          </a:p>
          <a:p>
            <a:pPr lvl="1"/>
            <a:r>
              <a:rPr lang="en-IN" b="1" dirty="0"/>
              <a:t>OpenID Connect / OIDC (Authentication Layer):</a:t>
            </a:r>
            <a:r>
              <a:rPr lang="en-IN" dirty="0"/>
              <a:t> A simple identity layer built </a:t>
            </a:r>
            <a:r>
              <a:rPr lang="en-IN" i="1" dirty="0"/>
              <a:t>on top</a:t>
            </a:r>
            <a:r>
              <a:rPr lang="en-IN" dirty="0"/>
              <a:t> of OAuth 2.0. It introduces the </a:t>
            </a:r>
            <a:r>
              <a:rPr lang="en-IN" b="1" dirty="0"/>
              <a:t>ID Token</a:t>
            </a:r>
            <a:r>
              <a:rPr lang="en-IN" dirty="0"/>
              <a:t>, which contains user profile details (like name, email, and profile picture) formatted as a JWT.</a:t>
            </a:r>
          </a:p>
          <a:p>
            <a:r>
              <a:rPr lang="en-IN" b="1" dirty="0"/>
              <a:t>Key Roles in the OAuth 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Resource Owner:</a:t>
            </a:r>
            <a:r>
              <a:rPr lang="en-IN" dirty="0"/>
              <a:t> The end-user who grants access to a protected resource.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Client:</a:t>
            </a:r>
            <a:r>
              <a:rPr lang="en-IN" dirty="0"/>
              <a:t> The application making protected resource requests on behalf of the Resource Owner (e.g., your Spring Boot App).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Authorization Server:</a:t>
            </a:r>
            <a:r>
              <a:rPr lang="en-IN" dirty="0"/>
              <a:t> The server that authenticates the user, obtains authorization, and issues tokens (e.g., Google, GitHub, </a:t>
            </a:r>
            <a:r>
              <a:rPr lang="en-IN" dirty="0" err="1"/>
              <a:t>Keycloak</a:t>
            </a:r>
            <a:r>
              <a:rPr lang="en-IN" dirty="0"/>
              <a:t>, Okta).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Resource Server:</a:t>
            </a:r>
            <a:r>
              <a:rPr lang="en-IN" dirty="0"/>
              <a:t> The API server hosting the protected data (e.g., Google Drive API or your backend).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757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E99B-440F-7324-84FF-4F344650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4215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Security OAuth Implementation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AE8DC-2CA5-1972-DAEA-764B0D698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828"/>
            <a:ext cx="10515600" cy="5635256"/>
          </a:xfrm>
        </p:spPr>
        <p:txBody>
          <a:bodyPr>
            <a:normAutofit fontScale="92500"/>
          </a:bodyPr>
          <a:lstStyle/>
          <a:p>
            <a:r>
              <a:rPr lang="en-IN" dirty="0"/>
              <a:t>Depending on what architectural pattern your Spring Boot app uses, you will configure it as one of these three:</a:t>
            </a:r>
          </a:p>
          <a:p>
            <a:r>
              <a:rPr lang="en-IN" b="1" dirty="0"/>
              <a:t>A. OAuth 2.0 Client (spring-boot-starter-oauth2-client)</a:t>
            </a:r>
          </a:p>
          <a:p>
            <a:pPr lvl="1"/>
            <a:r>
              <a:rPr lang="en-IN" dirty="0"/>
              <a:t>Used when your application needs to handle a </a:t>
            </a:r>
            <a:r>
              <a:rPr lang="en-IN" b="1" dirty="0"/>
              <a:t>"Login with Google/GitHub"</a:t>
            </a:r>
            <a:r>
              <a:rPr lang="en-IN" dirty="0"/>
              <a:t> feature or needs to call an external secure API on behalf of a user.</a:t>
            </a:r>
          </a:p>
          <a:p>
            <a:pPr lvl="1"/>
            <a:r>
              <a:rPr lang="en-IN" b="1" dirty="0"/>
              <a:t>Flow:</a:t>
            </a:r>
            <a:r>
              <a:rPr lang="en-IN" dirty="0"/>
              <a:t> The app redirects the user to the provider -&gt; user logs in -&gt; provider redirects back with a code -&gt; Spring exchanges it for tokens -&gt; logs the user in.</a:t>
            </a:r>
          </a:p>
          <a:p>
            <a:r>
              <a:rPr lang="en-IN" b="1" dirty="0"/>
              <a:t>B. OAuth 2.0 Resource Server (spring-boot-starter-oauth2-resource-server)</a:t>
            </a:r>
          </a:p>
          <a:p>
            <a:pPr lvl="1"/>
            <a:r>
              <a:rPr lang="en-IN" dirty="0"/>
              <a:t>Used when building a </a:t>
            </a:r>
            <a:r>
              <a:rPr lang="en-IN" b="1" dirty="0"/>
              <a:t>headless REST API or Microservice</a:t>
            </a:r>
            <a:r>
              <a:rPr lang="en-IN" dirty="0"/>
              <a:t>. Your API does not handle login screens. Instead, it expects incoming HTTP requests to contain a valid Bearer JWT issued by an external Authorization Server (like </a:t>
            </a:r>
            <a:r>
              <a:rPr lang="en-IN" dirty="0" err="1"/>
              <a:t>Keycloak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Flow:</a:t>
            </a:r>
            <a:r>
              <a:rPr lang="en-IN" dirty="0"/>
              <a:t> Validates incoming tokens automatically via public cryptographic keys exposed by the Identity Provider.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6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B4A2-40F9-C36A-3CDB-F6607EAB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3CDC-15DE-4EEE-A2DB-85131CE5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6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3754</Words>
  <Application>Microsoft Office PowerPoint</Application>
  <PresentationFormat>Widescreen</PresentationFormat>
  <Paragraphs>335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Google Sans Text</vt:lpstr>
      <vt:lpstr>Office Theme</vt:lpstr>
      <vt:lpstr>PowerPoint Presentation</vt:lpstr>
      <vt:lpstr>What is Spring Security?</vt:lpstr>
      <vt:lpstr>Spring Security Architecture</vt:lpstr>
      <vt:lpstr>Spring Security Architecture</vt:lpstr>
      <vt:lpstr>Basic Configuration Setup</vt:lpstr>
      <vt:lpstr>Modern Java Configuration </vt:lpstr>
      <vt:lpstr>Authentication vs Authorization</vt:lpstr>
      <vt:lpstr>Security Filter Chain</vt:lpstr>
      <vt:lpstr>Core Filters in the Chain</vt:lpstr>
      <vt:lpstr>Authentication vs. Authorization</vt:lpstr>
      <vt:lpstr>Authentication vs. Authorization</vt:lpstr>
      <vt:lpstr>Authentication vs. Authorization</vt:lpstr>
      <vt:lpstr>Authentication Manager</vt:lpstr>
      <vt:lpstr>Authentication Manager</vt:lpstr>
      <vt:lpstr>Authentication Manager</vt:lpstr>
      <vt:lpstr>Authentication Manager</vt:lpstr>
      <vt:lpstr>Authentication Manager</vt:lpstr>
      <vt:lpstr>Authentication Provider</vt:lpstr>
      <vt:lpstr>Authentication Provider</vt:lpstr>
      <vt:lpstr>Authentication Provider</vt:lpstr>
      <vt:lpstr>Authentication Provider</vt:lpstr>
      <vt:lpstr>Authentication Provider</vt:lpstr>
      <vt:lpstr>What is JWT &amp; Why Use It?</vt:lpstr>
      <vt:lpstr>The Core JWT Authentication Flow</vt:lpstr>
      <vt:lpstr>Key Components in Spring Boot Architecture</vt:lpstr>
      <vt:lpstr>PowerPoint Presentation</vt:lpstr>
      <vt:lpstr>Summary of Configuration (Spring Security 6.x Style)</vt:lpstr>
      <vt:lpstr>Best Practices &amp; Security Gotchas </vt:lpstr>
      <vt:lpstr>OAuth 2.0 (Authorization Framework)</vt:lpstr>
      <vt:lpstr>Spring Security OAuth Implementation Types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Tilwar</dc:creator>
  <cp:lastModifiedBy>Shruti Tilwar</cp:lastModifiedBy>
  <cp:revision>1</cp:revision>
  <dcterms:created xsi:type="dcterms:W3CDTF">2026-06-21T08:27:20Z</dcterms:created>
  <dcterms:modified xsi:type="dcterms:W3CDTF">2026-06-21T08:27:48Z</dcterms:modified>
</cp:coreProperties>
</file>